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18288000" cy="10287000"/>
  <p:notesSz cx="6858000" cy="9144000"/>
  <p:embeddedFontLst>
    <p:embeddedFont>
      <p:font typeface="Anton" charset="1" panose="00000500000000000000"/>
      <p:regular r:id="rId22"/>
    </p:embeddedFont>
    <p:embeddedFont>
      <p:font typeface="Lovelo" charset="1" panose="02000000000000000000"/>
      <p:regular r:id="rId23"/>
    </p:embeddedFont>
    <p:embeddedFont>
      <p:font typeface="Montaser Arabic" charset="1" panose="00000500000000000000"/>
      <p:regular r:id="rId24"/>
    </p:embeddedFont>
    <p:embeddedFont>
      <p:font typeface="RQND Pro" charset="1" panose="00000500000000000000"/>
      <p:regular r:id="rId25"/>
    </p:embeddedFont>
    <p:embeddedFont>
      <p:font typeface="RQND Pro Medium" charset="1" panose="00000500000000000000"/>
      <p:regular r:id="rId26"/>
    </p:embeddedFont>
    <p:embeddedFont>
      <p:font typeface="Canva Sans" charset="1" panose="020B0503030501040103"/>
      <p:regular r:id="rId27"/>
    </p:embeddedFont>
    <p:embeddedFont>
      <p:font typeface="Montaser Arabic Bold" charset="1" panose="00000800000000000000"/>
      <p:regular r:id="rId28"/>
    </p:embeddedFont>
    <p:embeddedFont>
      <p:font typeface="Canva Sans Bold" charset="1" panose="020B0803030501040103"/>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media/image6.png" Type="http://schemas.openxmlformats.org/officeDocument/2006/relationships/image"/><Relationship Id="rId4" Target="../media/image7.pn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10.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media/image11.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media/image11.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png" Type="http://schemas.openxmlformats.org/officeDocument/2006/relationships/image"/><Relationship Id="rId11" Target="../media/image18.png" Type="http://schemas.openxmlformats.org/officeDocument/2006/relationships/image"/><Relationship Id="rId12" Target="../media/image19.png" Type="http://schemas.openxmlformats.org/officeDocument/2006/relationships/image"/><Relationship Id="rId2" Target="../media/image5.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12.png" Type="http://schemas.openxmlformats.org/officeDocument/2006/relationships/image"/><Relationship Id="rId6" Target="../media/image13.png" Type="http://schemas.openxmlformats.org/officeDocument/2006/relationships/image"/><Relationship Id="rId7" Target="../media/image14.png" Type="http://schemas.openxmlformats.org/officeDocument/2006/relationships/image"/><Relationship Id="rId8" Target="../media/image15.png" Type="http://schemas.openxmlformats.org/officeDocument/2006/relationships/image"/><Relationship Id="rId9" Target="../media/image1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media/image20.png" Type="http://schemas.openxmlformats.org/officeDocument/2006/relationships/image"/><Relationship Id="rId4" Target="../media/image21.svg" Type="http://schemas.openxmlformats.org/officeDocument/2006/relationships/image"/><Relationship Id="rId5" Target="../media/image22.png" Type="http://schemas.openxmlformats.org/officeDocument/2006/relationships/image"/><Relationship Id="rId6" Target="../media/image23.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media/image24.png" Type="http://schemas.openxmlformats.org/officeDocument/2006/relationships/image"/><Relationship Id="rId4" Target="../media/image25.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media/image24.png" Type="http://schemas.openxmlformats.org/officeDocument/2006/relationships/image"/><Relationship Id="rId4" Target="../media/image25.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jpeg" Type="http://schemas.openxmlformats.org/officeDocument/2006/relationships/image"/><Relationship Id="rId3" Target="../media/image27.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media/image24.png" Type="http://schemas.openxmlformats.org/officeDocument/2006/relationships/image"/><Relationship Id="rId4" Target="../media/image25.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media/image29.png" Type="http://schemas.openxmlformats.org/officeDocument/2006/relationships/image"/><Relationship Id="rId4" Target="../media/image30.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666" r="0" b="-16666"/>
            </a:stretch>
          </a:blipFill>
        </p:spPr>
      </p:sp>
      <p:sp>
        <p:nvSpPr>
          <p:cNvPr name="Freeform 3" id="3"/>
          <p:cNvSpPr/>
          <p:nvPr/>
        </p:nvSpPr>
        <p:spPr>
          <a:xfrm flipH="false" flipV="false" rot="0">
            <a:off x="-519367" y="-352343"/>
            <a:ext cx="10991686" cy="10991686"/>
          </a:xfrm>
          <a:custGeom>
            <a:avLst/>
            <a:gdLst/>
            <a:ahLst/>
            <a:cxnLst/>
            <a:rect r="r" b="b" t="t" l="l"/>
            <a:pathLst>
              <a:path h="10991686" w="10991686">
                <a:moveTo>
                  <a:pt x="0" y="0"/>
                </a:moveTo>
                <a:lnTo>
                  <a:pt x="10991686" y="0"/>
                </a:lnTo>
                <a:lnTo>
                  <a:pt x="10991686" y="10991686"/>
                </a:lnTo>
                <a:lnTo>
                  <a:pt x="0" y="10991686"/>
                </a:lnTo>
                <a:lnTo>
                  <a:pt x="0" y="0"/>
                </a:lnTo>
                <a:close/>
              </a:path>
            </a:pathLst>
          </a:custGeom>
          <a:blipFill>
            <a:blip r:embed="rId3">
              <a:alphaModFix amt="49000"/>
            </a:blip>
            <a:stretch>
              <a:fillRect l="0" t="0" r="0" b="0"/>
            </a:stretch>
          </a:blipFill>
        </p:spPr>
      </p:sp>
      <p:sp>
        <p:nvSpPr>
          <p:cNvPr name="Freeform 4" id="4"/>
          <p:cNvSpPr/>
          <p:nvPr/>
        </p:nvSpPr>
        <p:spPr>
          <a:xfrm flipH="false" flipV="false" rot="0">
            <a:off x="2012386" y="3447475"/>
            <a:ext cx="2797197" cy="2746339"/>
          </a:xfrm>
          <a:custGeom>
            <a:avLst/>
            <a:gdLst/>
            <a:ahLst/>
            <a:cxnLst/>
            <a:rect r="r" b="b" t="t" l="l"/>
            <a:pathLst>
              <a:path h="2746339" w="2797197">
                <a:moveTo>
                  <a:pt x="0" y="0"/>
                </a:moveTo>
                <a:lnTo>
                  <a:pt x="2797197" y="0"/>
                </a:lnTo>
                <a:lnTo>
                  <a:pt x="2797197" y="2746339"/>
                </a:lnTo>
                <a:lnTo>
                  <a:pt x="0" y="2746339"/>
                </a:lnTo>
                <a:lnTo>
                  <a:pt x="0" y="0"/>
                </a:lnTo>
                <a:close/>
              </a:path>
            </a:pathLst>
          </a:custGeom>
          <a:blipFill>
            <a:blip r:embed="rId4">
              <a:alphaModFix amt="26000"/>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2276476" y="3475447"/>
            <a:ext cx="13735049" cy="3002731"/>
          </a:xfrm>
          <a:prstGeom prst="rect">
            <a:avLst/>
          </a:prstGeom>
        </p:spPr>
        <p:txBody>
          <a:bodyPr anchor="t" rtlCol="false" tIns="0" lIns="0" bIns="0" rIns="0">
            <a:spAutoFit/>
          </a:bodyPr>
          <a:lstStyle/>
          <a:p>
            <a:pPr algn="ctr">
              <a:lnSpc>
                <a:spcPts val="24545"/>
              </a:lnSpc>
              <a:spcBef>
                <a:spcPct val="0"/>
              </a:spcBef>
            </a:pPr>
            <a:r>
              <a:rPr lang="en-US" sz="17532">
                <a:solidFill>
                  <a:srgbClr val="FFFFFF"/>
                </a:solidFill>
                <a:latin typeface="Anton"/>
                <a:ea typeface="Anton"/>
                <a:cs typeface="Anton"/>
                <a:sym typeface="Anton"/>
              </a:rPr>
              <a:t>THE BIG IDEA</a:t>
            </a:r>
          </a:p>
        </p:txBody>
      </p:sp>
      <p:sp>
        <p:nvSpPr>
          <p:cNvPr name="TextBox 6" id="6"/>
          <p:cNvSpPr txBox="true"/>
          <p:nvPr/>
        </p:nvSpPr>
        <p:spPr>
          <a:xfrm rot="0">
            <a:off x="5381972" y="422618"/>
            <a:ext cx="7524055" cy="1145488"/>
          </a:xfrm>
          <a:prstGeom prst="rect">
            <a:avLst/>
          </a:prstGeom>
        </p:spPr>
        <p:txBody>
          <a:bodyPr anchor="t" rtlCol="false" tIns="0" lIns="0" bIns="0" rIns="0">
            <a:spAutoFit/>
          </a:bodyPr>
          <a:lstStyle/>
          <a:p>
            <a:pPr algn="ctr">
              <a:lnSpc>
                <a:spcPts val="4587"/>
              </a:lnSpc>
              <a:spcBef>
                <a:spcPct val="0"/>
              </a:spcBef>
            </a:pPr>
            <a:r>
              <a:rPr lang="en-US" sz="3277" spc="2621">
                <a:solidFill>
                  <a:srgbClr val="FFFFFF"/>
                </a:solidFill>
                <a:latin typeface="Lovelo"/>
                <a:ea typeface="Lovelo"/>
                <a:cs typeface="Lovelo"/>
                <a:sym typeface="Lovelo"/>
              </a:rPr>
              <a:t>TEAM CODELANDERS</a:t>
            </a:r>
          </a:p>
        </p:txBody>
      </p:sp>
      <p:sp>
        <p:nvSpPr>
          <p:cNvPr name="TextBox 7" id="7"/>
          <p:cNvSpPr txBox="true"/>
          <p:nvPr/>
        </p:nvSpPr>
        <p:spPr>
          <a:xfrm rot="0">
            <a:off x="9757367" y="6136664"/>
            <a:ext cx="4623197" cy="432383"/>
          </a:xfrm>
          <a:prstGeom prst="rect">
            <a:avLst/>
          </a:prstGeom>
        </p:spPr>
        <p:txBody>
          <a:bodyPr anchor="t" rtlCol="false" tIns="0" lIns="0" bIns="0" rIns="0">
            <a:spAutoFit/>
          </a:bodyPr>
          <a:lstStyle/>
          <a:p>
            <a:pPr algn="ctr">
              <a:lnSpc>
                <a:spcPts val="3467"/>
              </a:lnSpc>
              <a:spcBef>
                <a:spcPct val="0"/>
              </a:spcBef>
            </a:pPr>
            <a:r>
              <a:rPr lang="en-US" sz="2477" spc="899">
                <a:solidFill>
                  <a:srgbClr val="FFFFFF"/>
                </a:solidFill>
                <a:latin typeface="Lovelo"/>
                <a:ea typeface="Lovelo"/>
                <a:cs typeface="Lovelo"/>
                <a:sym typeface="Lovelo"/>
              </a:rPr>
              <a:t>RADICAL EMPATHY.</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666" r="0" b="-16666"/>
            </a:stretch>
          </a:blipFill>
        </p:spPr>
      </p:sp>
      <p:sp>
        <p:nvSpPr>
          <p:cNvPr name="Freeform 3" id="3"/>
          <p:cNvSpPr/>
          <p:nvPr/>
        </p:nvSpPr>
        <p:spPr>
          <a:xfrm flipH="false" flipV="false" rot="0">
            <a:off x="10437498" y="-560877"/>
            <a:ext cx="10753446" cy="10753446"/>
          </a:xfrm>
          <a:custGeom>
            <a:avLst/>
            <a:gdLst/>
            <a:ahLst/>
            <a:cxnLst/>
            <a:rect r="r" b="b" t="t" l="l"/>
            <a:pathLst>
              <a:path h="10753446" w="10753446">
                <a:moveTo>
                  <a:pt x="0" y="0"/>
                </a:moveTo>
                <a:lnTo>
                  <a:pt x="10753447" y="0"/>
                </a:lnTo>
                <a:lnTo>
                  <a:pt x="10753447" y="10753447"/>
                </a:lnTo>
                <a:lnTo>
                  <a:pt x="0" y="10753447"/>
                </a:lnTo>
                <a:lnTo>
                  <a:pt x="0" y="0"/>
                </a:lnTo>
                <a:close/>
              </a:path>
            </a:pathLst>
          </a:custGeom>
          <a:blipFill>
            <a:blip r:embed="rId3">
              <a:alphaModFix amt="14000"/>
            </a:blip>
            <a:stretch>
              <a:fillRect l="0" t="0" r="0" b="0"/>
            </a:stretch>
          </a:blipFill>
        </p:spPr>
      </p:sp>
      <p:sp>
        <p:nvSpPr>
          <p:cNvPr name="Freeform 4" id="4"/>
          <p:cNvSpPr/>
          <p:nvPr/>
        </p:nvSpPr>
        <p:spPr>
          <a:xfrm flipH="false" flipV="false" rot="0">
            <a:off x="7595513" y="6538662"/>
            <a:ext cx="3096974" cy="5857161"/>
          </a:xfrm>
          <a:custGeom>
            <a:avLst/>
            <a:gdLst/>
            <a:ahLst/>
            <a:cxnLst/>
            <a:rect r="r" b="b" t="t" l="l"/>
            <a:pathLst>
              <a:path h="5857161" w="3096974">
                <a:moveTo>
                  <a:pt x="0" y="0"/>
                </a:moveTo>
                <a:lnTo>
                  <a:pt x="3096974" y="0"/>
                </a:lnTo>
                <a:lnTo>
                  <a:pt x="3096974" y="5857160"/>
                </a:lnTo>
                <a:lnTo>
                  <a:pt x="0" y="5857160"/>
                </a:lnTo>
                <a:lnTo>
                  <a:pt x="0" y="0"/>
                </a:lnTo>
                <a:close/>
              </a:path>
            </a:pathLst>
          </a:custGeom>
          <a:blipFill>
            <a:blip r:embed="rId4"/>
            <a:stretch>
              <a:fillRect l="0" t="0" r="0" b="0"/>
            </a:stretch>
          </a:blipFill>
        </p:spPr>
      </p:sp>
      <p:sp>
        <p:nvSpPr>
          <p:cNvPr name="Freeform 5" id="5"/>
          <p:cNvSpPr/>
          <p:nvPr/>
        </p:nvSpPr>
        <p:spPr>
          <a:xfrm flipH="false" flipV="false" rot="0">
            <a:off x="1444170" y="2791470"/>
            <a:ext cx="2797197" cy="2746339"/>
          </a:xfrm>
          <a:custGeom>
            <a:avLst/>
            <a:gdLst/>
            <a:ahLst/>
            <a:cxnLst/>
            <a:rect r="r" b="b" t="t" l="l"/>
            <a:pathLst>
              <a:path h="2746339" w="2797197">
                <a:moveTo>
                  <a:pt x="0" y="0"/>
                </a:moveTo>
                <a:lnTo>
                  <a:pt x="2797197" y="0"/>
                </a:lnTo>
                <a:lnTo>
                  <a:pt x="2797197" y="2746338"/>
                </a:lnTo>
                <a:lnTo>
                  <a:pt x="0" y="2746338"/>
                </a:lnTo>
                <a:lnTo>
                  <a:pt x="0" y="0"/>
                </a:lnTo>
                <a:close/>
              </a:path>
            </a:pathLst>
          </a:custGeom>
          <a:blipFill>
            <a:blip r:embed="rId5">
              <a:alphaModFix amt="26000"/>
              <a:extLst>
                <a:ext uri="{96DAC541-7B7A-43D3-8B79-37D633B846F1}">
                  <asvg:svgBlip xmlns:asvg="http://schemas.microsoft.com/office/drawing/2016/SVG/main" r:embed="rId6"/>
                </a:ext>
              </a:extLst>
            </a:blip>
            <a:stretch>
              <a:fillRect l="0" t="0" r="0" b="0"/>
            </a:stretch>
          </a:blipFill>
        </p:spPr>
      </p:sp>
      <p:sp>
        <p:nvSpPr>
          <p:cNvPr name="TextBox 6" id="6"/>
          <p:cNvSpPr txBox="true"/>
          <p:nvPr/>
        </p:nvSpPr>
        <p:spPr>
          <a:xfrm rot="0">
            <a:off x="3803099" y="-257175"/>
            <a:ext cx="10437882" cy="2280957"/>
          </a:xfrm>
          <a:prstGeom prst="rect">
            <a:avLst/>
          </a:prstGeom>
        </p:spPr>
        <p:txBody>
          <a:bodyPr anchor="t" rtlCol="false" tIns="0" lIns="0" bIns="0" rIns="0">
            <a:spAutoFit/>
          </a:bodyPr>
          <a:lstStyle/>
          <a:p>
            <a:pPr algn="ctr">
              <a:lnSpc>
                <a:spcPts val="18652"/>
              </a:lnSpc>
              <a:spcBef>
                <a:spcPct val="0"/>
              </a:spcBef>
            </a:pPr>
            <a:r>
              <a:rPr lang="en-US" sz="13323">
                <a:solidFill>
                  <a:srgbClr val="FFFFFF"/>
                </a:solidFill>
                <a:latin typeface="Anton"/>
                <a:ea typeface="Anton"/>
                <a:cs typeface="Anton"/>
                <a:sym typeface="Anton"/>
              </a:rPr>
              <a:t>ABOUT US</a:t>
            </a:r>
          </a:p>
        </p:txBody>
      </p:sp>
      <p:sp>
        <p:nvSpPr>
          <p:cNvPr name="TextBox 7" id="7"/>
          <p:cNvSpPr txBox="true"/>
          <p:nvPr/>
        </p:nvSpPr>
        <p:spPr>
          <a:xfrm rot="0">
            <a:off x="414398" y="2136158"/>
            <a:ext cx="17571746" cy="4781550"/>
          </a:xfrm>
          <a:prstGeom prst="rect">
            <a:avLst/>
          </a:prstGeom>
        </p:spPr>
        <p:txBody>
          <a:bodyPr anchor="t" rtlCol="false" tIns="0" lIns="0" bIns="0" rIns="0">
            <a:spAutoFit/>
          </a:bodyPr>
          <a:lstStyle/>
          <a:p>
            <a:pPr algn="just">
              <a:lnSpc>
                <a:spcPts val="4200"/>
              </a:lnSpc>
            </a:pPr>
            <a:r>
              <a:rPr lang="en-US" sz="3000">
                <a:solidFill>
                  <a:srgbClr val="FFFFFF"/>
                </a:solidFill>
                <a:latin typeface="Montaser Arabic"/>
                <a:ea typeface="Montaser Arabic"/>
                <a:cs typeface="Montaser Arabic"/>
                <a:sym typeface="Montaser Arabic"/>
              </a:rPr>
              <a:t>At The Big Idea, the broken model of workplace training is being redefined. For too long, unconscious bias and microaggressions have gone unaddressed.</a:t>
            </a:r>
          </a:p>
          <a:p>
            <a:pPr algn="just">
              <a:lnSpc>
                <a:spcPts val="4200"/>
              </a:lnSpc>
            </a:pPr>
            <a:r>
              <a:rPr lang="en-US" sz="3000">
                <a:solidFill>
                  <a:srgbClr val="FFFFFF"/>
                </a:solidFill>
                <a:latin typeface="Montaser Arabic"/>
                <a:ea typeface="Montaser Arabic"/>
                <a:cs typeface="Montaser Arabic"/>
                <a:sym typeface="Montaser Arabic"/>
              </a:rPr>
              <a:t>Through our AI-driven immersive platform, realistic workplace scenarios are simulated. Continuous feedback is provided and an accountability score is maintained so that real progress can be ensured. Human oversight is guaranteed by a unique self-complaint mechanism, allowing workplace culture to be strengthened through constant learning.</a:t>
            </a:r>
          </a:p>
          <a:p>
            <a:pPr algn="just">
              <a:lnSpc>
                <a:spcPts val="4200"/>
              </a:lnSpc>
              <a:spcBef>
                <a:spcPct val="0"/>
              </a:spcBef>
            </a:pPr>
            <a:r>
              <a:rPr lang="en-US" sz="3000">
                <a:solidFill>
                  <a:srgbClr val="FFFFFF"/>
                </a:solidFill>
                <a:latin typeface="Montaser Arabic"/>
                <a:ea typeface="Montaser Arabic"/>
                <a:cs typeface="Montaser Arabic"/>
                <a:sym typeface="Montaser Arabic"/>
              </a:rPr>
              <a:t>It is our mission for awareness to be moved into action, so that workplaces are built where fairness is treated as a reflex, not an afterthought.</a:t>
            </a:r>
          </a:p>
          <a:p>
            <a:pPr algn="just">
              <a:lnSpc>
                <a:spcPts val="4200"/>
              </a:lnSpc>
              <a:spcBef>
                <a:spcPct val="0"/>
              </a:spcBef>
            </a:pPr>
          </a:p>
        </p:txBody>
      </p:sp>
      <p:sp>
        <p:nvSpPr>
          <p:cNvPr name="TextBox 8" id="8"/>
          <p:cNvSpPr txBox="true"/>
          <p:nvPr/>
        </p:nvSpPr>
        <p:spPr>
          <a:xfrm rot="0">
            <a:off x="16388820" y="8757924"/>
            <a:ext cx="1229733" cy="895978"/>
          </a:xfrm>
          <a:prstGeom prst="rect">
            <a:avLst/>
          </a:prstGeom>
        </p:spPr>
        <p:txBody>
          <a:bodyPr anchor="t" rtlCol="false" tIns="0" lIns="0" bIns="0" rIns="0">
            <a:spAutoFit/>
          </a:bodyPr>
          <a:lstStyle/>
          <a:p>
            <a:pPr algn="ctr">
              <a:lnSpc>
                <a:spcPts val="7279"/>
              </a:lnSpc>
              <a:spcBef>
                <a:spcPct val="0"/>
              </a:spcBef>
            </a:pPr>
            <a:r>
              <a:rPr lang="en-US" sz="5199">
                <a:solidFill>
                  <a:srgbClr val="FFFFFF"/>
                </a:solidFill>
                <a:latin typeface="RQND Pro"/>
                <a:ea typeface="RQND Pro"/>
                <a:cs typeface="RQND Pro"/>
                <a:sym typeface="RQND Pro"/>
              </a:rPr>
              <a:t>02</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666" r="0" b="-16666"/>
            </a:stretch>
          </a:blipFill>
        </p:spPr>
      </p:sp>
      <p:sp>
        <p:nvSpPr>
          <p:cNvPr name="Freeform 3" id="3"/>
          <p:cNvSpPr/>
          <p:nvPr/>
        </p:nvSpPr>
        <p:spPr>
          <a:xfrm flipH="false" flipV="false" rot="0">
            <a:off x="5651117" y="188563"/>
            <a:ext cx="11967436" cy="8986457"/>
          </a:xfrm>
          <a:custGeom>
            <a:avLst/>
            <a:gdLst/>
            <a:ahLst/>
            <a:cxnLst/>
            <a:rect r="r" b="b" t="t" l="l"/>
            <a:pathLst>
              <a:path h="8986457" w="11967436">
                <a:moveTo>
                  <a:pt x="0" y="0"/>
                </a:moveTo>
                <a:lnTo>
                  <a:pt x="11967437" y="0"/>
                </a:lnTo>
                <a:lnTo>
                  <a:pt x="11967437" y="8986456"/>
                </a:lnTo>
                <a:lnTo>
                  <a:pt x="0" y="898645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228989" y="766676"/>
            <a:ext cx="2797197" cy="2746339"/>
          </a:xfrm>
          <a:custGeom>
            <a:avLst/>
            <a:gdLst/>
            <a:ahLst/>
            <a:cxnLst/>
            <a:rect r="r" b="b" t="t" l="l"/>
            <a:pathLst>
              <a:path h="2746339" w="2797197">
                <a:moveTo>
                  <a:pt x="0" y="0"/>
                </a:moveTo>
                <a:lnTo>
                  <a:pt x="2797197" y="0"/>
                </a:lnTo>
                <a:lnTo>
                  <a:pt x="2797197" y="2746339"/>
                </a:lnTo>
                <a:lnTo>
                  <a:pt x="0" y="2746339"/>
                </a:lnTo>
                <a:lnTo>
                  <a:pt x="0" y="0"/>
                </a:lnTo>
                <a:close/>
              </a:path>
            </a:pathLst>
          </a:custGeom>
          <a:blipFill>
            <a:blip r:embed="rId5">
              <a:alphaModFix amt="26000"/>
              <a:extLst>
                <a:ext uri="{96DAC541-7B7A-43D3-8B79-37D633B846F1}">
                  <asvg:svgBlip xmlns:asvg="http://schemas.microsoft.com/office/drawing/2016/SVG/main" r:embed="rId6"/>
                </a:ext>
              </a:extLst>
            </a:blip>
            <a:stretch>
              <a:fillRect l="0" t="0" r="0" b="0"/>
            </a:stretch>
          </a:blipFill>
        </p:spPr>
      </p:sp>
      <p:sp>
        <p:nvSpPr>
          <p:cNvPr name="TextBox 5" id="5"/>
          <p:cNvSpPr txBox="true"/>
          <p:nvPr/>
        </p:nvSpPr>
        <p:spPr>
          <a:xfrm rot="0">
            <a:off x="7894341" y="118156"/>
            <a:ext cx="8935562" cy="3394859"/>
          </a:xfrm>
          <a:prstGeom prst="rect">
            <a:avLst/>
          </a:prstGeom>
        </p:spPr>
        <p:txBody>
          <a:bodyPr anchor="t" rtlCol="false" tIns="0" lIns="0" bIns="0" rIns="0">
            <a:spAutoFit/>
          </a:bodyPr>
          <a:lstStyle/>
          <a:p>
            <a:pPr algn="ctr">
              <a:lnSpc>
                <a:spcPts val="15968"/>
              </a:lnSpc>
            </a:pPr>
            <a:r>
              <a:rPr lang="en-US" sz="11405">
                <a:solidFill>
                  <a:srgbClr val="FFFFFF"/>
                </a:solidFill>
                <a:latin typeface="Anton"/>
                <a:ea typeface="Anton"/>
                <a:cs typeface="Anton"/>
                <a:sym typeface="Anton"/>
              </a:rPr>
              <a:t>Problem</a:t>
            </a:r>
          </a:p>
          <a:p>
            <a:pPr algn="ctr">
              <a:lnSpc>
                <a:spcPts val="6843"/>
              </a:lnSpc>
            </a:pPr>
            <a:r>
              <a:rPr lang="en-US" sz="11405">
                <a:solidFill>
                  <a:srgbClr val="FFFFFF"/>
                </a:solidFill>
                <a:latin typeface="Anton"/>
                <a:ea typeface="Anton"/>
                <a:cs typeface="Anton"/>
                <a:sym typeface="Anton"/>
              </a:rPr>
              <a:t>S</a:t>
            </a:r>
            <a:r>
              <a:rPr lang="en-US" sz="11405">
                <a:solidFill>
                  <a:srgbClr val="FFFFFF"/>
                </a:solidFill>
                <a:latin typeface="Anton"/>
                <a:ea typeface="Anton"/>
                <a:cs typeface="Anton"/>
                <a:sym typeface="Anton"/>
              </a:rPr>
              <a:t>tatement</a:t>
            </a:r>
          </a:p>
        </p:txBody>
      </p:sp>
      <p:sp>
        <p:nvSpPr>
          <p:cNvPr name="TextBox 6" id="6"/>
          <p:cNvSpPr txBox="true"/>
          <p:nvPr/>
        </p:nvSpPr>
        <p:spPr>
          <a:xfrm rot="0">
            <a:off x="16388820" y="8757924"/>
            <a:ext cx="1229733" cy="895978"/>
          </a:xfrm>
          <a:prstGeom prst="rect">
            <a:avLst/>
          </a:prstGeom>
        </p:spPr>
        <p:txBody>
          <a:bodyPr anchor="t" rtlCol="false" tIns="0" lIns="0" bIns="0" rIns="0">
            <a:spAutoFit/>
          </a:bodyPr>
          <a:lstStyle/>
          <a:p>
            <a:pPr algn="ctr">
              <a:lnSpc>
                <a:spcPts val="7279"/>
              </a:lnSpc>
              <a:spcBef>
                <a:spcPct val="0"/>
              </a:spcBef>
            </a:pPr>
            <a:r>
              <a:rPr lang="en-US" sz="5199">
                <a:solidFill>
                  <a:srgbClr val="FFFFFF"/>
                </a:solidFill>
                <a:latin typeface="RQND Pro"/>
                <a:ea typeface="RQND Pro"/>
                <a:cs typeface="RQND Pro"/>
                <a:sym typeface="RQND Pro"/>
              </a:rPr>
              <a:t>03</a:t>
            </a:r>
          </a:p>
        </p:txBody>
      </p:sp>
      <p:sp>
        <p:nvSpPr>
          <p:cNvPr name="TextBox 7" id="7"/>
          <p:cNvSpPr txBox="true"/>
          <p:nvPr/>
        </p:nvSpPr>
        <p:spPr>
          <a:xfrm rot="0">
            <a:off x="8557805" y="3465390"/>
            <a:ext cx="8701495" cy="5467985"/>
          </a:xfrm>
          <a:prstGeom prst="rect">
            <a:avLst/>
          </a:prstGeom>
        </p:spPr>
        <p:txBody>
          <a:bodyPr anchor="t" rtlCol="false" tIns="0" lIns="0" bIns="0" rIns="0">
            <a:spAutoFit/>
          </a:bodyPr>
          <a:lstStyle/>
          <a:p>
            <a:pPr algn="just">
              <a:lnSpc>
                <a:spcPts val="3640"/>
              </a:lnSpc>
            </a:pPr>
            <a:r>
              <a:rPr lang="en-US" sz="2600">
                <a:solidFill>
                  <a:srgbClr val="FFFFFF"/>
                </a:solidFill>
                <a:latin typeface="Montaser Arabic"/>
                <a:ea typeface="Montaser Arabic"/>
                <a:cs typeface="Montaser Arabic"/>
                <a:sym typeface="Montaser Arabic"/>
              </a:rPr>
              <a:t>Workplace discrimination, unconscious bias, and microaggressions are often subtle, making them difficult to detect and address. Employees and employers may have awareness or empathy gaps, and conventional training methods frequently fail to create lasting behavior change or deep emotional understanding. There is a need for immersive learning solutions that simulate real-world workplace dynamics, foster empathy, and cultivate inclusive organizational cultures.</a:t>
            </a:r>
          </a:p>
          <a:p>
            <a:pPr algn="just">
              <a:lnSpc>
                <a:spcPts val="3640"/>
              </a:lnSpc>
            </a:pPr>
          </a:p>
          <a:p>
            <a:pPr algn="just">
              <a:lnSpc>
                <a:spcPts val="3640"/>
              </a:lnSpc>
              <a:spcBef>
                <a:spcPct val="0"/>
              </a:spcBef>
            </a:pPr>
          </a:p>
        </p:txBody>
      </p:sp>
      <p:sp>
        <p:nvSpPr>
          <p:cNvPr name="Freeform 8" id="8"/>
          <p:cNvSpPr/>
          <p:nvPr/>
        </p:nvSpPr>
        <p:spPr>
          <a:xfrm flipH="false" flipV="false" rot="0">
            <a:off x="-961073" y="2985651"/>
            <a:ext cx="9266080" cy="7440633"/>
          </a:xfrm>
          <a:custGeom>
            <a:avLst/>
            <a:gdLst/>
            <a:ahLst/>
            <a:cxnLst/>
            <a:rect r="r" b="b" t="t" l="l"/>
            <a:pathLst>
              <a:path h="7440633" w="9266080">
                <a:moveTo>
                  <a:pt x="0" y="0"/>
                </a:moveTo>
                <a:lnTo>
                  <a:pt x="9266081" y="0"/>
                </a:lnTo>
                <a:lnTo>
                  <a:pt x="9266081" y="7440633"/>
                </a:lnTo>
                <a:lnTo>
                  <a:pt x="0" y="7440633"/>
                </a:lnTo>
                <a:lnTo>
                  <a:pt x="0" y="0"/>
                </a:lnTo>
                <a:close/>
              </a:path>
            </a:pathLst>
          </a:custGeom>
          <a:blipFill>
            <a:blip r:embed="rId7">
              <a:alphaModFix amt="87000"/>
            </a:blip>
            <a:stretch>
              <a:fillRect l="-9849" t="-5496" r="-1730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666" r="0" b="-16666"/>
            </a:stretch>
          </a:blipFill>
        </p:spPr>
      </p:sp>
      <p:sp>
        <p:nvSpPr>
          <p:cNvPr name="Freeform 3" id="3"/>
          <p:cNvSpPr/>
          <p:nvPr/>
        </p:nvSpPr>
        <p:spPr>
          <a:xfrm flipH="false" flipV="false" rot="0">
            <a:off x="14601244" y="0"/>
            <a:ext cx="9136371" cy="10670214"/>
          </a:xfrm>
          <a:custGeom>
            <a:avLst/>
            <a:gdLst/>
            <a:ahLst/>
            <a:cxnLst/>
            <a:rect r="r" b="b" t="t" l="l"/>
            <a:pathLst>
              <a:path h="10670214" w="9136371">
                <a:moveTo>
                  <a:pt x="0" y="0"/>
                </a:moveTo>
                <a:lnTo>
                  <a:pt x="9136371" y="0"/>
                </a:lnTo>
                <a:lnTo>
                  <a:pt x="9136371" y="10670214"/>
                </a:lnTo>
                <a:lnTo>
                  <a:pt x="0" y="10670214"/>
                </a:lnTo>
                <a:lnTo>
                  <a:pt x="0" y="0"/>
                </a:lnTo>
                <a:close/>
              </a:path>
            </a:pathLst>
          </a:custGeom>
          <a:blipFill>
            <a:blip r:embed="rId3">
              <a:alphaModFix amt="96000"/>
            </a:blip>
            <a:stretch>
              <a:fillRect l="0" t="0" r="0" b="0"/>
            </a:stretch>
          </a:blipFill>
        </p:spPr>
      </p:sp>
      <p:sp>
        <p:nvSpPr>
          <p:cNvPr name="TextBox 4" id="4"/>
          <p:cNvSpPr txBox="true"/>
          <p:nvPr/>
        </p:nvSpPr>
        <p:spPr>
          <a:xfrm rot="0">
            <a:off x="1028700" y="2389126"/>
            <a:ext cx="12974769" cy="7556448"/>
          </a:xfrm>
          <a:prstGeom prst="rect">
            <a:avLst/>
          </a:prstGeom>
        </p:spPr>
        <p:txBody>
          <a:bodyPr anchor="t" rtlCol="false" tIns="0" lIns="0" bIns="0" rIns="0">
            <a:spAutoFit/>
          </a:bodyPr>
          <a:lstStyle/>
          <a:p>
            <a:pPr algn="just">
              <a:lnSpc>
                <a:spcPts val="4027"/>
              </a:lnSpc>
            </a:pPr>
          </a:p>
          <a:p>
            <a:pPr algn="just">
              <a:lnSpc>
                <a:spcPts val="4027"/>
              </a:lnSpc>
            </a:pPr>
            <a:r>
              <a:rPr lang="en-US" sz="2877">
                <a:solidFill>
                  <a:srgbClr val="FFFFFF"/>
                </a:solidFill>
                <a:latin typeface="Montaser Arabic"/>
                <a:ea typeface="Montaser Arabic"/>
                <a:cs typeface="Montaser Arabic"/>
                <a:sym typeface="Montaser Arabic"/>
              </a:rPr>
              <a:t>Conventional training methods are considered ineffective, as long-term behavioral change is rarely achieved.</a:t>
            </a:r>
          </a:p>
          <a:p>
            <a:pPr algn="just">
              <a:lnSpc>
                <a:spcPts val="4027"/>
              </a:lnSpc>
            </a:pPr>
          </a:p>
          <a:p>
            <a:pPr algn="just">
              <a:lnSpc>
                <a:spcPts val="4027"/>
              </a:lnSpc>
            </a:pPr>
            <a:r>
              <a:rPr lang="en-US" sz="2877">
                <a:solidFill>
                  <a:srgbClr val="FFFFFF"/>
                </a:solidFill>
                <a:latin typeface="Montaser Arabic"/>
                <a:ea typeface="Montaser Arabic"/>
                <a:cs typeface="Montaser Arabic"/>
                <a:sym typeface="Montaser Arabic"/>
              </a:rPr>
              <a:t>An </a:t>
            </a:r>
            <a:r>
              <a:rPr lang="en-US" sz="2877">
                <a:solidFill>
                  <a:srgbClr val="D14628"/>
                </a:solidFill>
                <a:latin typeface="Montaser Arabic"/>
                <a:ea typeface="Montaser Arabic"/>
                <a:cs typeface="Montaser Arabic"/>
                <a:sym typeface="Montaser Arabic"/>
              </a:rPr>
              <a:t>AI-driven immersive solution</a:t>
            </a:r>
            <a:r>
              <a:rPr lang="en-US" sz="2877">
                <a:solidFill>
                  <a:srgbClr val="FFFFFF"/>
                </a:solidFill>
                <a:latin typeface="Montaser Arabic"/>
                <a:ea typeface="Montaser Arabic"/>
                <a:cs typeface="Montaser Arabic"/>
                <a:sym typeface="Montaser Arabic"/>
              </a:rPr>
              <a:t> has been proposed so that real-world scenarios can be simulated and awareness can be increased.</a:t>
            </a:r>
          </a:p>
          <a:p>
            <a:pPr algn="just">
              <a:lnSpc>
                <a:spcPts val="4027"/>
              </a:lnSpc>
            </a:pPr>
          </a:p>
          <a:p>
            <a:pPr algn="just">
              <a:lnSpc>
                <a:spcPts val="4027"/>
              </a:lnSpc>
            </a:pPr>
            <a:r>
              <a:rPr lang="en-US" sz="2877">
                <a:solidFill>
                  <a:srgbClr val="FFFFFF"/>
                </a:solidFill>
                <a:latin typeface="Montaser Arabic"/>
                <a:ea typeface="Montaser Arabic"/>
                <a:cs typeface="Montaser Arabic"/>
                <a:sym typeface="Montaser Arabic"/>
              </a:rPr>
              <a:t>An </a:t>
            </a:r>
            <a:r>
              <a:rPr lang="en-US" sz="2877">
                <a:solidFill>
                  <a:srgbClr val="D14628"/>
                </a:solidFill>
                <a:latin typeface="Montaser Arabic"/>
                <a:ea typeface="Montaser Arabic"/>
                <a:cs typeface="Montaser Arabic"/>
                <a:sym typeface="Montaser Arabic"/>
              </a:rPr>
              <a:t>annual review reports</a:t>
            </a:r>
            <a:r>
              <a:rPr lang="en-US" sz="2877">
                <a:solidFill>
                  <a:srgbClr val="FFFFFF"/>
                </a:solidFill>
                <a:latin typeface="Montaser Arabic"/>
                <a:ea typeface="Montaser Arabic"/>
                <a:cs typeface="Montaser Arabic"/>
                <a:sym typeface="Montaser Arabic"/>
              </a:rPr>
              <a:t> that </a:t>
            </a:r>
            <a:r>
              <a:rPr lang="en-US" sz="2877">
                <a:solidFill>
                  <a:srgbClr val="D14628"/>
                </a:solidFill>
                <a:latin typeface="Montaser Arabic"/>
                <a:ea typeface="Montaser Arabic"/>
                <a:cs typeface="Montaser Arabic"/>
                <a:sym typeface="Montaser Arabic"/>
              </a:rPr>
              <a:t>track all</a:t>
            </a:r>
            <a:r>
              <a:rPr lang="en-US" sz="2877">
                <a:solidFill>
                  <a:srgbClr val="FFFFFF"/>
                </a:solidFill>
                <a:latin typeface="Montaser Arabic"/>
                <a:ea typeface="Montaser Arabic"/>
                <a:cs typeface="Montaser Arabic"/>
                <a:sym typeface="Montaser Arabic"/>
              </a:rPr>
              <a:t> </a:t>
            </a:r>
            <a:r>
              <a:rPr lang="en-US" sz="2877">
                <a:solidFill>
                  <a:srgbClr val="D14628"/>
                </a:solidFill>
                <a:latin typeface="Montaser Arabic"/>
                <a:ea typeface="Montaser Arabic"/>
                <a:cs typeface="Montaser Arabic"/>
                <a:sym typeface="Montaser Arabic"/>
              </a:rPr>
              <a:t>bias-related memos</a:t>
            </a:r>
            <a:r>
              <a:rPr lang="en-US" sz="2877">
                <a:solidFill>
                  <a:srgbClr val="FFFFFF"/>
                </a:solidFill>
                <a:latin typeface="Montaser Arabic"/>
                <a:ea typeface="Montaser Arabic"/>
                <a:cs typeface="Montaser Arabic"/>
                <a:sym typeface="Montaser Arabic"/>
              </a:rPr>
              <a:t> raised against an employee, along with how many have been effectively resolved to promote accountability and improvement.”</a:t>
            </a:r>
          </a:p>
          <a:p>
            <a:pPr algn="just">
              <a:lnSpc>
                <a:spcPts val="4027"/>
              </a:lnSpc>
            </a:pPr>
          </a:p>
          <a:p>
            <a:pPr algn="just">
              <a:lnSpc>
                <a:spcPts val="4027"/>
              </a:lnSpc>
            </a:pPr>
            <a:r>
              <a:rPr lang="en-US" sz="2877">
                <a:solidFill>
                  <a:srgbClr val="FFFFFF"/>
                </a:solidFill>
                <a:latin typeface="Montaser Arabic"/>
                <a:ea typeface="Montaser Arabic"/>
                <a:cs typeface="Montaser Arabic"/>
                <a:sym typeface="Montaser Arabic"/>
              </a:rPr>
              <a:t>A </a:t>
            </a:r>
            <a:r>
              <a:rPr lang="en-US" sz="2877">
                <a:solidFill>
                  <a:srgbClr val="D14628"/>
                </a:solidFill>
                <a:latin typeface="Montaser Arabic"/>
                <a:ea typeface="Montaser Arabic"/>
                <a:cs typeface="Montaser Arabic"/>
                <a:sym typeface="Montaser Arabic"/>
              </a:rPr>
              <a:t>track record score</a:t>
            </a:r>
            <a:r>
              <a:rPr lang="en-US" sz="2877">
                <a:solidFill>
                  <a:srgbClr val="FFFFFF"/>
                </a:solidFill>
                <a:latin typeface="Montaser Arabic"/>
                <a:ea typeface="Montaser Arabic"/>
                <a:cs typeface="Montaser Arabic"/>
                <a:sym typeface="Montaser Arabic"/>
              </a:rPr>
              <a:t> is maintained for employees and employers so that </a:t>
            </a:r>
            <a:r>
              <a:rPr lang="en-US" sz="2877">
                <a:solidFill>
                  <a:srgbClr val="D14628"/>
                </a:solidFill>
                <a:latin typeface="Montaser Arabic"/>
                <a:ea typeface="Montaser Arabic"/>
                <a:cs typeface="Montaser Arabic"/>
                <a:sym typeface="Montaser Arabic"/>
              </a:rPr>
              <a:t>accountability is ensured</a:t>
            </a:r>
            <a:r>
              <a:rPr lang="en-US" sz="2877">
                <a:solidFill>
                  <a:srgbClr val="FFFFFF"/>
                </a:solidFill>
                <a:latin typeface="Montaser Arabic"/>
                <a:ea typeface="Montaser Arabic"/>
                <a:cs typeface="Montaser Arabic"/>
                <a:sym typeface="Montaser Arabic"/>
              </a:rPr>
              <a:t>.</a:t>
            </a:r>
          </a:p>
          <a:p>
            <a:pPr algn="just">
              <a:lnSpc>
                <a:spcPts val="4027"/>
              </a:lnSpc>
            </a:pPr>
          </a:p>
          <a:p>
            <a:pPr algn="just">
              <a:lnSpc>
                <a:spcPts val="4027"/>
              </a:lnSpc>
              <a:spcBef>
                <a:spcPct val="0"/>
              </a:spcBef>
            </a:pPr>
          </a:p>
        </p:txBody>
      </p:sp>
      <p:sp>
        <p:nvSpPr>
          <p:cNvPr name="TextBox 5" id="5"/>
          <p:cNvSpPr txBox="true"/>
          <p:nvPr/>
        </p:nvSpPr>
        <p:spPr>
          <a:xfrm rot="0">
            <a:off x="779533" y="9153525"/>
            <a:ext cx="1229733" cy="895978"/>
          </a:xfrm>
          <a:prstGeom prst="rect">
            <a:avLst/>
          </a:prstGeom>
        </p:spPr>
        <p:txBody>
          <a:bodyPr anchor="t" rtlCol="false" tIns="0" lIns="0" bIns="0" rIns="0">
            <a:spAutoFit/>
          </a:bodyPr>
          <a:lstStyle/>
          <a:p>
            <a:pPr algn="ctr">
              <a:lnSpc>
                <a:spcPts val="7279"/>
              </a:lnSpc>
              <a:spcBef>
                <a:spcPct val="0"/>
              </a:spcBef>
            </a:pPr>
            <a:r>
              <a:rPr lang="en-US" sz="5199">
                <a:solidFill>
                  <a:srgbClr val="FFFFFF"/>
                </a:solidFill>
                <a:latin typeface="RQND Pro"/>
                <a:ea typeface="RQND Pro"/>
                <a:cs typeface="RQND Pro"/>
                <a:sym typeface="RQND Pro"/>
              </a:rPr>
              <a:t>04</a:t>
            </a:r>
          </a:p>
        </p:txBody>
      </p:sp>
      <p:sp>
        <p:nvSpPr>
          <p:cNvPr name="Freeform 6" id="6"/>
          <p:cNvSpPr/>
          <p:nvPr/>
        </p:nvSpPr>
        <p:spPr>
          <a:xfrm flipH="false" flipV="false" rot="0">
            <a:off x="-4199" y="4643432"/>
            <a:ext cx="2797197" cy="2746339"/>
          </a:xfrm>
          <a:custGeom>
            <a:avLst/>
            <a:gdLst/>
            <a:ahLst/>
            <a:cxnLst/>
            <a:rect r="r" b="b" t="t" l="l"/>
            <a:pathLst>
              <a:path h="2746339" w="2797197">
                <a:moveTo>
                  <a:pt x="0" y="0"/>
                </a:moveTo>
                <a:lnTo>
                  <a:pt x="2797197" y="0"/>
                </a:lnTo>
                <a:lnTo>
                  <a:pt x="2797197" y="2746338"/>
                </a:lnTo>
                <a:lnTo>
                  <a:pt x="0" y="2746338"/>
                </a:lnTo>
                <a:lnTo>
                  <a:pt x="0" y="0"/>
                </a:lnTo>
                <a:close/>
              </a:path>
            </a:pathLst>
          </a:custGeom>
          <a:blipFill>
            <a:blip r:embed="rId4">
              <a:alphaModFix amt="26000"/>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774905" y="497461"/>
            <a:ext cx="8369095" cy="1948815"/>
          </a:xfrm>
          <a:prstGeom prst="rect">
            <a:avLst/>
          </a:prstGeom>
        </p:spPr>
        <p:txBody>
          <a:bodyPr anchor="t" rtlCol="false" tIns="0" lIns="0" bIns="0" rIns="0">
            <a:spAutoFit/>
          </a:bodyPr>
          <a:lstStyle/>
          <a:p>
            <a:pPr algn="ctr">
              <a:lnSpc>
                <a:spcPts val="15960"/>
              </a:lnSpc>
              <a:spcBef>
                <a:spcPct val="0"/>
              </a:spcBef>
            </a:pPr>
            <a:r>
              <a:rPr lang="en-US" sz="11400">
                <a:solidFill>
                  <a:srgbClr val="FFFFFF"/>
                </a:solidFill>
                <a:latin typeface="Anton"/>
                <a:ea typeface="Anton"/>
                <a:cs typeface="Anton"/>
                <a:sym typeface="Anton"/>
              </a:rPr>
              <a:t>INTRODUCTION</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666" r="0" b="-16666"/>
            </a:stretch>
          </a:blipFill>
        </p:spPr>
      </p:sp>
      <p:sp>
        <p:nvSpPr>
          <p:cNvPr name="Freeform 3" id="3"/>
          <p:cNvSpPr/>
          <p:nvPr/>
        </p:nvSpPr>
        <p:spPr>
          <a:xfrm flipH="false" flipV="false" rot="0">
            <a:off x="14996268" y="0"/>
            <a:ext cx="9136371" cy="10670214"/>
          </a:xfrm>
          <a:custGeom>
            <a:avLst/>
            <a:gdLst/>
            <a:ahLst/>
            <a:cxnLst/>
            <a:rect r="r" b="b" t="t" l="l"/>
            <a:pathLst>
              <a:path h="10670214" w="9136371">
                <a:moveTo>
                  <a:pt x="0" y="0"/>
                </a:moveTo>
                <a:lnTo>
                  <a:pt x="9136372" y="0"/>
                </a:lnTo>
                <a:lnTo>
                  <a:pt x="9136372" y="10670214"/>
                </a:lnTo>
                <a:lnTo>
                  <a:pt x="0" y="10670214"/>
                </a:lnTo>
                <a:lnTo>
                  <a:pt x="0" y="0"/>
                </a:lnTo>
                <a:close/>
              </a:path>
            </a:pathLst>
          </a:custGeom>
          <a:blipFill>
            <a:blip r:embed="rId3">
              <a:alphaModFix amt="96000"/>
            </a:blip>
            <a:stretch>
              <a:fillRect l="0" t="0" r="0" b="0"/>
            </a:stretch>
          </a:blipFill>
        </p:spPr>
      </p:sp>
      <p:sp>
        <p:nvSpPr>
          <p:cNvPr name="TextBox 4" id="4"/>
          <p:cNvSpPr txBox="true"/>
          <p:nvPr/>
        </p:nvSpPr>
        <p:spPr>
          <a:xfrm rot="0">
            <a:off x="1028700" y="2865666"/>
            <a:ext cx="13442239" cy="7051548"/>
          </a:xfrm>
          <a:prstGeom prst="rect">
            <a:avLst/>
          </a:prstGeom>
        </p:spPr>
        <p:txBody>
          <a:bodyPr anchor="t" rtlCol="false" tIns="0" lIns="0" bIns="0" rIns="0">
            <a:spAutoFit/>
          </a:bodyPr>
          <a:lstStyle/>
          <a:p>
            <a:pPr algn="just">
              <a:lnSpc>
                <a:spcPts val="4031"/>
              </a:lnSpc>
            </a:pPr>
            <a:r>
              <a:rPr lang="en-US" sz="2879">
                <a:solidFill>
                  <a:srgbClr val="FFFFFF"/>
                </a:solidFill>
                <a:latin typeface="Montaser Arabic"/>
                <a:ea typeface="Montaser Arabic"/>
                <a:cs typeface="Montaser Arabic"/>
                <a:sym typeface="Montaser Arabic"/>
              </a:rPr>
              <a:t>An </a:t>
            </a:r>
            <a:r>
              <a:rPr lang="en-US" sz="2879">
                <a:solidFill>
                  <a:srgbClr val="D14628"/>
                </a:solidFill>
                <a:latin typeface="Montaser Arabic"/>
                <a:ea typeface="Montaser Arabic"/>
                <a:cs typeface="Montaser Arabic"/>
                <a:sym typeface="Montaser Arabic"/>
              </a:rPr>
              <a:t>AI-powered real-time facial analyzer</a:t>
            </a:r>
            <a:r>
              <a:rPr lang="en-US" sz="2879">
                <a:solidFill>
                  <a:srgbClr val="FFFFFF"/>
                </a:solidFill>
                <a:latin typeface="Montaser Arabic"/>
                <a:ea typeface="Montaser Arabic"/>
                <a:cs typeface="Montaser Arabic"/>
                <a:sym typeface="Montaser Arabic"/>
              </a:rPr>
              <a:t> that identifies participation imbalances and </a:t>
            </a:r>
            <a:r>
              <a:rPr lang="en-US" sz="2879">
                <a:solidFill>
                  <a:srgbClr val="D14628"/>
                </a:solidFill>
                <a:latin typeface="Montaser Arabic"/>
                <a:ea typeface="Montaser Arabic"/>
                <a:cs typeface="Montaser Arabic"/>
                <a:sym typeface="Montaser Arabic"/>
              </a:rPr>
              <a:t>potential bias triggers</a:t>
            </a:r>
            <a:r>
              <a:rPr lang="en-US" sz="2879">
                <a:solidFill>
                  <a:srgbClr val="FFFFFF"/>
                </a:solidFill>
                <a:latin typeface="Montaser Arabic"/>
                <a:ea typeface="Montaser Arabic"/>
                <a:cs typeface="Montaser Arabic"/>
                <a:sym typeface="Montaser Arabic"/>
              </a:rPr>
              <a:t> during interactions. By </a:t>
            </a:r>
            <a:r>
              <a:rPr lang="en-US" sz="2879">
                <a:solidFill>
                  <a:srgbClr val="D14628"/>
                </a:solidFill>
                <a:latin typeface="Montaser Arabic"/>
                <a:ea typeface="Montaser Arabic"/>
                <a:cs typeface="Montaser Arabic"/>
                <a:sym typeface="Montaser Arabic"/>
              </a:rPr>
              <a:t>mapping visibility and engagement patterns,</a:t>
            </a:r>
            <a:r>
              <a:rPr lang="en-US" sz="2879">
                <a:solidFill>
                  <a:srgbClr val="FFFFFF"/>
                </a:solidFill>
                <a:latin typeface="Montaser Arabic"/>
                <a:ea typeface="Montaser Arabic"/>
                <a:cs typeface="Montaser Arabic"/>
                <a:sym typeface="Montaser Arabic"/>
              </a:rPr>
              <a:t> it provides organizations with actionable insights to foster fairness and inclusivity</a:t>
            </a:r>
          </a:p>
          <a:p>
            <a:pPr algn="just">
              <a:lnSpc>
                <a:spcPts val="4031"/>
              </a:lnSpc>
            </a:pPr>
          </a:p>
          <a:p>
            <a:pPr algn="just">
              <a:lnSpc>
                <a:spcPts val="4031"/>
              </a:lnSpc>
            </a:pPr>
            <a:r>
              <a:rPr lang="en-US" sz="2879">
                <a:solidFill>
                  <a:srgbClr val="FFFFFF"/>
                </a:solidFill>
                <a:latin typeface="Montaser Arabic"/>
                <a:ea typeface="Montaser Arabic"/>
                <a:cs typeface="Montaser Arabic"/>
                <a:sym typeface="Montaser Arabic"/>
              </a:rPr>
              <a:t>The </a:t>
            </a:r>
            <a:r>
              <a:rPr lang="en-US" sz="2879">
                <a:solidFill>
                  <a:srgbClr val="D14628"/>
                </a:solidFill>
                <a:latin typeface="Montaser Arabic"/>
                <a:ea typeface="Montaser Arabic"/>
                <a:cs typeface="Montaser Arabic"/>
                <a:sym typeface="Montaser Arabic"/>
              </a:rPr>
              <a:t>Mood analyzer</a:t>
            </a:r>
            <a:r>
              <a:rPr lang="en-US" sz="2879">
                <a:solidFill>
                  <a:srgbClr val="FFFFFF"/>
                </a:solidFill>
                <a:latin typeface="Montaser Arabic"/>
                <a:ea typeface="Montaser Arabic"/>
                <a:cs typeface="Montaser Arabic"/>
                <a:sym typeface="Montaser Arabic"/>
              </a:rPr>
              <a:t> interprets </a:t>
            </a:r>
            <a:r>
              <a:rPr lang="en-US" sz="2879">
                <a:solidFill>
                  <a:srgbClr val="D14628"/>
                </a:solidFill>
                <a:latin typeface="Montaser Arabic"/>
                <a:ea typeface="Montaser Arabic"/>
                <a:cs typeface="Montaser Arabic"/>
                <a:sym typeface="Montaser Arabic"/>
              </a:rPr>
              <a:t>facial cues </a:t>
            </a:r>
            <a:r>
              <a:rPr lang="en-US" sz="2879">
                <a:solidFill>
                  <a:srgbClr val="FFFFFF"/>
                </a:solidFill>
                <a:latin typeface="Montaser Arabic"/>
                <a:ea typeface="Montaser Arabic"/>
                <a:cs typeface="Montaser Arabic"/>
                <a:sym typeface="Montaser Arabic"/>
              </a:rPr>
              <a:t>to assess emotional states in real time, enabling early detection of </a:t>
            </a:r>
            <a:r>
              <a:rPr lang="en-US" sz="2879">
                <a:solidFill>
                  <a:srgbClr val="D14628"/>
                </a:solidFill>
                <a:latin typeface="Montaser Arabic"/>
                <a:ea typeface="Montaser Arabic"/>
                <a:cs typeface="Montaser Arabic"/>
                <a:sym typeface="Montaser Arabic"/>
              </a:rPr>
              <a:t>stress, discomfort, or positivity</a:t>
            </a:r>
            <a:r>
              <a:rPr lang="en-US" sz="2879">
                <a:solidFill>
                  <a:srgbClr val="FFFFFF"/>
                </a:solidFill>
                <a:latin typeface="Montaser Arabic"/>
                <a:ea typeface="Montaser Arabic"/>
                <a:cs typeface="Montaser Arabic"/>
                <a:sym typeface="Montaser Arabic"/>
              </a:rPr>
              <a:t> during interactions.</a:t>
            </a:r>
          </a:p>
          <a:p>
            <a:pPr algn="just">
              <a:lnSpc>
                <a:spcPts val="4031"/>
              </a:lnSpc>
            </a:pPr>
          </a:p>
          <a:p>
            <a:pPr algn="just">
              <a:lnSpc>
                <a:spcPts val="4031"/>
              </a:lnSpc>
            </a:pPr>
            <a:r>
              <a:rPr lang="en-US" sz="2879">
                <a:solidFill>
                  <a:srgbClr val="FFFFFF"/>
                </a:solidFill>
                <a:latin typeface="Montaser Arabic"/>
                <a:ea typeface="Montaser Arabic"/>
                <a:cs typeface="Montaser Arabic"/>
                <a:sym typeface="Montaser Arabic"/>
              </a:rPr>
              <a:t>A </a:t>
            </a:r>
            <a:r>
              <a:rPr lang="en-US" sz="2879">
                <a:solidFill>
                  <a:srgbClr val="D14628"/>
                </a:solidFill>
                <a:latin typeface="Montaser Arabic"/>
                <a:ea typeface="Montaser Arabic"/>
                <a:cs typeface="Montaser Arabic"/>
                <a:sym typeface="Montaser Arabic"/>
              </a:rPr>
              <a:t>self-complaint mechanism</a:t>
            </a:r>
            <a:r>
              <a:rPr lang="en-US" sz="2879">
                <a:solidFill>
                  <a:srgbClr val="FFFFFF"/>
                </a:solidFill>
                <a:latin typeface="Montaser Arabic"/>
                <a:ea typeface="Montaser Arabic"/>
                <a:cs typeface="Montaser Arabic"/>
                <a:sym typeface="Montaser Arabic"/>
              </a:rPr>
              <a:t> is integrated, enabling concerns to be raised when an incident is not recognized by AI.</a:t>
            </a:r>
          </a:p>
          <a:p>
            <a:pPr algn="just">
              <a:lnSpc>
                <a:spcPts val="4031"/>
              </a:lnSpc>
            </a:pPr>
          </a:p>
          <a:p>
            <a:pPr algn="just">
              <a:lnSpc>
                <a:spcPts val="4031"/>
              </a:lnSpc>
              <a:spcBef>
                <a:spcPct val="0"/>
              </a:spcBef>
            </a:pPr>
          </a:p>
          <a:p>
            <a:pPr algn="just">
              <a:lnSpc>
                <a:spcPts val="4031"/>
              </a:lnSpc>
              <a:spcBef>
                <a:spcPct val="0"/>
              </a:spcBef>
            </a:pPr>
          </a:p>
        </p:txBody>
      </p:sp>
      <p:sp>
        <p:nvSpPr>
          <p:cNvPr name="TextBox 5" id="5"/>
          <p:cNvSpPr txBox="true"/>
          <p:nvPr/>
        </p:nvSpPr>
        <p:spPr>
          <a:xfrm rot="0">
            <a:off x="774905" y="8757924"/>
            <a:ext cx="1229733" cy="895978"/>
          </a:xfrm>
          <a:prstGeom prst="rect">
            <a:avLst/>
          </a:prstGeom>
        </p:spPr>
        <p:txBody>
          <a:bodyPr anchor="t" rtlCol="false" tIns="0" lIns="0" bIns="0" rIns="0">
            <a:spAutoFit/>
          </a:bodyPr>
          <a:lstStyle/>
          <a:p>
            <a:pPr algn="ctr">
              <a:lnSpc>
                <a:spcPts val="7279"/>
              </a:lnSpc>
              <a:spcBef>
                <a:spcPct val="0"/>
              </a:spcBef>
            </a:pPr>
            <a:r>
              <a:rPr lang="en-US" sz="5199">
                <a:solidFill>
                  <a:srgbClr val="FFFFFF"/>
                </a:solidFill>
                <a:latin typeface="RQND Pro"/>
                <a:ea typeface="RQND Pro"/>
                <a:cs typeface="RQND Pro"/>
                <a:sym typeface="RQND Pro"/>
              </a:rPr>
              <a:t>05</a:t>
            </a:r>
          </a:p>
        </p:txBody>
      </p:sp>
      <p:sp>
        <p:nvSpPr>
          <p:cNvPr name="Freeform 6" id="6"/>
          <p:cNvSpPr/>
          <p:nvPr/>
        </p:nvSpPr>
        <p:spPr>
          <a:xfrm flipH="false" flipV="false" rot="0">
            <a:off x="-4199" y="4643432"/>
            <a:ext cx="2797197" cy="2746339"/>
          </a:xfrm>
          <a:custGeom>
            <a:avLst/>
            <a:gdLst/>
            <a:ahLst/>
            <a:cxnLst/>
            <a:rect r="r" b="b" t="t" l="l"/>
            <a:pathLst>
              <a:path h="2746339" w="2797197">
                <a:moveTo>
                  <a:pt x="0" y="0"/>
                </a:moveTo>
                <a:lnTo>
                  <a:pt x="2797197" y="0"/>
                </a:lnTo>
                <a:lnTo>
                  <a:pt x="2797197" y="2746338"/>
                </a:lnTo>
                <a:lnTo>
                  <a:pt x="0" y="2746338"/>
                </a:lnTo>
                <a:lnTo>
                  <a:pt x="0" y="0"/>
                </a:lnTo>
                <a:close/>
              </a:path>
            </a:pathLst>
          </a:custGeom>
          <a:blipFill>
            <a:blip r:embed="rId4">
              <a:alphaModFix amt="26000"/>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774905" y="497461"/>
            <a:ext cx="8369095" cy="1948815"/>
          </a:xfrm>
          <a:prstGeom prst="rect">
            <a:avLst/>
          </a:prstGeom>
        </p:spPr>
        <p:txBody>
          <a:bodyPr anchor="t" rtlCol="false" tIns="0" lIns="0" bIns="0" rIns="0">
            <a:spAutoFit/>
          </a:bodyPr>
          <a:lstStyle/>
          <a:p>
            <a:pPr algn="ctr">
              <a:lnSpc>
                <a:spcPts val="15960"/>
              </a:lnSpc>
              <a:spcBef>
                <a:spcPct val="0"/>
              </a:spcBef>
            </a:pPr>
            <a:r>
              <a:rPr lang="en-US" sz="11400">
                <a:solidFill>
                  <a:srgbClr val="FFFFFF"/>
                </a:solidFill>
                <a:latin typeface="Anton"/>
                <a:ea typeface="Anton"/>
                <a:cs typeface="Anton"/>
                <a:sym typeface="Anton"/>
              </a:rPr>
              <a:t>INTRODUCTION</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666" r="0" b="-16666"/>
            </a:stretch>
          </a:blipFill>
        </p:spPr>
      </p:sp>
      <p:sp>
        <p:nvSpPr>
          <p:cNvPr name="Freeform 3" id="3"/>
          <p:cNvSpPr/>
          <p:nvPr/>
        </p:nvSpPr>
        <p:spPr>
          <a:xfrm flipH="false" flipV="false" rot="0">
            <a:off x="15125139" y="4441838"/>
            <a:ext cx="2797197" cy="2746339"/>
          </a:xfrm>
          <a:custGeom>
            <a:avLst/>
            <a:gdLst/>
            <a:ahLst/>
            <a:cxnLst/>
            <a:rect r="r" b="b" t="t" l="l"/>
            <a:pathLst>
              <a:path h="2746339" w="2797197">
                <a:moveTo>
                  <a:pt x="0" y="0"/>
                </a:moveTo>
                <a:lnTo>
                  <a:pt x="2797197" y="0"/>
                </a:lnTo>
                <a:lnTo>
                  <a:pt x="2797197" y="2746339"/>
                </a:lnTo>
                <a:lnTo>
                  <a:pt x="0" y="2746339"/>
                </a:lnTo>
                <a:lnTo>
                  <a:pt x="0" y="0"/>
                </a:lnTo>
                <a:close/>
              </a:path>
            </a:pathLst>
          </a:custGeom>
          <a:blipFill>
            <a:blip r:embed="rId3">
              <a:alphaModFix amt="26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285387" y="3564098"/>
            <a:ext cx="2118227" cy="1755481"/>
          </a:xfrm>
          <a:custGeom>
            <a:avLst/>
            <a:gdLst/>
            <a:ahLst/>
            <a:cxnLst/>
            <a:rect r="r" b="b" t="t" l="l"/>
            <a:pathLst>
              <a:path h="1755481" w="2118227">
                <a:moveTo>
                  <a:pt x="0" y="0"/>
                </a:moveTo>
                <a:lnTo>
                  <a:pt x="2118227" y="0"/>
                </a:lnTo>
                <a:lnTo>
                  <a:pt x="2118227" y="1755481"/>
                </a:lnTo>
                <a:lnTo>
                  <a:pt x="0" y="1755481"/>
                </a:lnTo>
                <a:lnTo>
                  <a:pt x="0" y="0"/>
                </a:lnTo>
                <a:close/>
              </a:path>
            </a:pathLst>
          </a:custGeom>
          <a:blipFill>
            <a:blip r:embed="rId5"/>
            <a:stretch>
              <a:fillRect l="0" t="0" r="0" b="0"/>
            </a:stretch>
          </a:blipFill>
        </p:spPr>
      </p:sp>
      <p:sp>
        <p:nvSpPr>
          <p:cNvPr name="Freeform 5" id="5"/>
          <p:cNvSpPr/>
          <p:nvPr/>
        </p:nvSpPr>
        <p:spPr>
          <a:xfrm flipH="false" flipV="false" rot="0">
            <a:off x="4220963" y="3146923"/>
            <a:ext cx="4316386" cy="2589831"/>
          </a:xfrm>
          <a:custGeom>
            <a:avLst/>
            <a:gdLst/>
            <a:ahLst/>
            <a:cxnLst/>
            <a:rect r="r" b="b" t="t" l="l"/>
            <a:pathLst>
              <a:path h="2589831" w="4316386">
                <a:moveTo>
                  <a:pt x="0" y="0"/>
                </a:moveTo>
                <a:lnTo>
                  <a:pt x="4316385" y="0"/>
                </a:lnTo>
                <a:lnTo>
                  <a:pt x="4316385" y="2589831"/>
                </a:lnTo>
                <a:lnTo>
                  <a:pt x="0" y="2589831"/>
                </a:lnTo>
                <a:lnTo>
                  <a:pt x="0" y="0"/>
                </a:lnTo>
                <a:close/>
              </a:path>
            </a:pathLst>
          </a:custGeom>
          <a:blipFill>
            <a:blip r:embed="rId6"/>
            <a:stretch>
              <a:fillRect l="0" t="0" r="0" b="0"/>
            </a:stretch>
          </a:blipFill>
        </p:spPr>
      </p:sp>
      <p:sp>
        <p:nvSpPr>
          <p:cNvPr name="Freeform 6" id="6"/>
          <p:cNvSpPr/>
          <p:nvPr/>
        </p:nvSpPr>
        <p:spPr>
          <a:xfrm flipH="false" flipV="false" rot="0">
            <a:off x="1028700" y="6647995"/>
            <a:ext cx="4230106" cy="2047026"/>
          </a:xfrm>
          <a:custGeom>
            <a:avLst/>
            <a:gdLst/>
            <a:ahLst/>
            <a:cxnLst/>
            <a:rect r="r" b="b" t="t" l="l"/>
            <a:pathLst>
              <a:path h="2047026" w="4230106">
                <a:moveTo>
                  <a:pt x="0" y="0"/>
                </a:moveTo>
                <a:lnTo>
                  <a:pt x="4230106" y="0"/>
                </a:lnTo>
                <a:lnTo>
                  <a:pt x="4230106" y="2047026"/>
                </a:lnTo>
                <a:lnTo>
                  <a:pt x="0" y="2047026"/>
                </a:lnTo>
                <a:lnTo>
                  <a:pt x="0" y="0"/>
                </a:lnTo>
                <a:close/>
              </a:path>
            </a:pathLst>
          </a:custGeom>
          <a:blipFill>
            <a:blip r:embed="rId7"/>
            <a:stretch>
              <a:fillRect l="0" t="-1156" r="0" b="-2166"/>
            </a:stretch>
          </a:blipFill>
        </p:spPr>
      </p:sp>
      <p:sp>
        <p:nvSpPr>
          <p:cNvPr name="Freeform 7" id="7"/>
          <p:cNvSpPr/>
          <p:nvPr/>
        </p:nvSpPr>
        <p:spPr>
          <a:xfrm flipH="false" flipV="false" rot="0">
            <a:off x="9144000" y="3146923"/>
            <a:ext cx="4479755" cy="1996577"/>
          </a:xfrm>
          <a:custGeom>
            <a:avLst/>
            <a:gdLst/>
            <a:ahLst/>
            <a:cxnLst/>
            <a:rect r="r" b="b" t="t" l="l"/>
            <a:pathLst>
              <a:path h="1996577" w="4479755">
                <a:moveTo>
                  <a:pt x="0" y="0"/>
                </a:moveTo>
                <a:lnTo>
                  <a:pt x="4479755" y="0"/>
                </a:lnTo>
                <a:lnTo>
                  <a:pt x="4479755" y="1996577"/>
                </a:lnTo>
                <a:lnTo>
                  <a:pt x="0" y="1996577"/>
                </a:lnTo>
                <a:lnTo>
                  <a:pt x="0" y="0"/>
                </a:lnTo>
                <a:close/>
              </a:path>
            </a:pathLst>
          </a:custGeom>
          <a:blipFill>
            <a:blip r:embed="rId8"/>
            <a:stretch>
              <a:fillRect l="0" t="0" r="-3950" b="0"/>
            </a:stretch>
          </a:blipFill>
        </p:spPr>
      </p:sp>
      <p:sp>
        <p:nvSpPr>
          <p:cNvPr name="Freeform 8" id="8"/>
          <p:cNvSpPr/>
          <p:nvPr/>
        </p:nvSpPr>
        <p:spPr>
          <a:xfrm flipH="false" flipV="false" rot="0">
            <a:off x="15007110" y="3443550"/>
            <a:ext cx="1996577" cy="1996577"/>
          </a:xfrm>
          <a:custGeom>
            <a:avLst/>
            <a:gdLst/>
            <a:ahLst/>
            <a:cxnLst/>
            <a:rect r="r" b="b" t="t" l="l"/>
            <a:pathLst>
              <a:path h="1996577" w="1996577">
                <a:moveTo>
                  <a:pt x="0" y="0"/>
                </a:moveTo>
                <a:lnTo>
                  <a:pt x="1996577" y="0"/>
                </a:lnTo>
                <a:lnTo>
                  <a:pt x="1996577" y="1996577"/>
                </a:lnTo>
                <a:lnTo>
                  <a:pt x="0" y="1996577"/>
                </a:lnTo>
                <a:lnTo>
                  <a:pt x="0" y="0"/>
                </a:lnTo>
                <a:close/>
              </a:path>
            </a:pathLst>
          </a:custGeom>
          <a:blipFill>
            <a:blip r:embed="rId9"/>
            <a:stretch>
              <a:fillRect l="0" t="0" r="0" b="0"/>
            </a:stretch>
          </a:blipFill>
        </p:spPr>
      </p:sp>
      <p:sp>
        <p:nvSpPr>
          <p:cNvPr name="Freeform 9" id="9"/>
          <p:cNvSpPr/>
          <p:nvPr/>
        </p:nvSpPr>
        <p:spPr>
          <a:xfrm flipH="false" flipV="false" rot="0">
            <a:off x="6036687" y="6647995"/>
            <a:ext cx="4095186" cy="2047026"/>
          </a:xfrm>
          <a:custGeom>
            <a:avLst/>
            <a:gdLst/>
            <a:ahLst/>
            <a:cxnLst/>
            <a:rect r="r" b="b" t="t" l="l"/>
            <a:pathLst>
              <a:path h="2047026" w="4095186">
                <a:moveTo>
                  <a:pt x="0" y="0"/>
                </a:moveTo>
                <a:lnTo>
                  <a:pt x="4095186" y="0"/>
                </a:lnTo>
                <a:lnTo>
                  <a:pt x="4095186" y="2047026"/>
                </a:lnTo>
                <a:lnTo>
                  <a:pt x="0" y="2047026"/>
                </a:lnTo>
                <a:lnTo>
                  <a:pt x="0" y="0"/>
                </a:lnTo>
                <a:close/>
              </a:path>
            </a:pathLst>
          </a:custGeom>
          <a:blipFill>
            <a:blip r:embed="rId10"/>
            <a:stretch>
              <a:fillRect l="0" t="-5760" r="0" b="-6770"/>
            </a:stretch>
          </a:blipFill>
        </p:spPr>
      </p:sp>
      <p:sp>
        <p:nvSpPr>
          <p:cNvPr name="Freeform 10" id="10"/>
          <p:cNvSpPr/>
          <p:nvPr/>
        </p:nvSpPr>
        <p:spPr>
          <a:xfrm flipH="false" flipV="false" rot="0">
            <a:off x="10912923" y="6480317"/>
            <a:ext cx="2382382" cy="2382382"/>
          </a:xfrm>
          <a:custGeom>
            <a:avLst/>
            <a:gdLst/>
            <a:ahLst/>
            <a:cxnLst/>
            <a:rect r="r" b="b" t="t" l="l"/>
            <a:pathLst>
              <a:path h="2382382" w="2382382">
                <a:moveTo>
                  <a:pt x="0" y="0"/>
                </a:moveTo>
                <a:lnTo>
                  <a:pt x="2382382" y="0"/>
                </a:lnTo>
                <a:lnTo>
                  <a:pt x="2382382" y="2382382"/>
                </a:lnTo>
                <a:lnTo>
                  <a:pt x="0" y="2382382"/>
                </a:lnTo>
                <a:lnTo>
                  <a:pt x="0" y="0"/>
                </a:lnTo>
                <a:close/>
              </a:path>
            </a:pathLst>
          </a:custGeom>
          <a:blipFill>
            <a:blip r:embed="rId11"/>
            <a:stretch>
              <a:fillRect l="0" t="0" r="0" b="0"/>
            </a:stretch>
          </a:blipFill>
        </p:spPr>
      </p:sp>
      <p:sp>
        <p:nvSpPr>
          <p:cNvPr name="Freeform 11" id="11"/>
          <p:cNvSpPr/>
          <p:nvPr/>
        </p:nvSpPr>
        <p:spPr>
          <a:xfrm flipH="false" flipV="false" rot="0">
            <a:off x="14489029" y="6480317"/>
            <a:ext cx="2514658" cy="2214704"/>
          </a:xfrm>
          <a:custGeom>
            <a:avLst/>
            <a:gdLst/>
            <a:ahLst/>
            <a:cxnLst/>
            <a:rect r="r" b="b" t="t" l="l"/>
            <a:pathLst>
              <a:path h="2214704" w="2514658">
                <a:moveTo>
                  <a:pt x="0" y="0"/>
                </a:moveTo>
                <a:lnTo>
                  <a:pt x="2514658" y="0"/>
                </a:lnTo>
                <a:lnTo>
                  <a:pt x="2514658" y="2214704"/>
                </a:lnTo>
                <a:lnTo>
                  <a:pt x="0" y="2214704"/>
                </a:lnTo>
                <a:lnTo>
                  <a:pt x="0" y="0"/>
                </a:lnTo>
                <a:close/>
              </a:path>
            </a:pathLst>
          </a:custGeom>
          <a:blipFill>
            <a:blip r:embed="rId12"/>
            <a:stretch>
              <a:fillRect l="0" t="0" r="0" b="-13543"/>
            </a:stretch>
          </a:blipFill>
        </p:spPr>
      </p:sp>
      <p:sp>
        <p:nvSpPr>
          <p:cNvPr name="TextBox 12" id="12"/>
          <p:cNvSpPr txBox="true"/>
          <p:nvPr/>
        </p:nvSpPr>
        <p:spPr>
          <a:xfrm rot="0">
            <a:off x="5664092" y="1676400"/>
            <a:ext cx="8935562" cy="1088201"/>
          </a:xfrm>
          <a:prstGeom prst="rect">
            <a:avLst/>
          </a:prstGeom>
        </p:spPr>
        <p:txBody>
          <a:bodyPr anchor="t" rtlCol="false" tIns="0" lIns="0" bIns="0" rIns="0">
            <a:spAutoFit/>
          </a:bodyPr>
          <a:lstStyle/>
          <a:p>
            <a:pPr algn="l">
              <a:lnSpc>
                <a:spcPts val="6843"/>
              </a:lnSpc>
            </a:pPr>
            <a:r>
              <a:rPr lang="en-US" sz="11405">
                <a:solidFill>
                  <a:srgbClr val="FFFFFF"/>
                </a:solidFill>
                <a:latin typeface="Anton"/>
                <a:ea typeface="Anton"/>
                <a:cs typeface="Anton"/>
                <a:sym typeface="Anton"/>
              </a:rPr>
              <a:t>TECH STACK</a:t>
            </a:r>
          </a:p>
        </p:txBody>
      </p:sp>
      <p:sp>
        <p:nvSpPr>
          <p:cNvPr name="TextBox 13" id="13"/>
          <p:cNvSpPr txBox="true"/>
          <p:nvPr/>
        </p:nvSpPr>
        <p:spPr>
          <a:xfrm rot="0">
            <a:off x="16388820" y="8757924"/>
            <a:ext cx="1229733" cy="895978"/>
          </a:xfrm>
          <a:prstGeom prst="rect">
            <a:avLst/>
          </a:prstGeom>
        </p:spPr>
        <p:txBody>
          <a:bodyPr anchor="t" rtlCol="false" tIns="0" lIns="0" bIns="0" rIns="0">
            <a:spAutoFit/>
          </a:bodyPr>
          <a:lstStyle/>
          <a:p>
            <a:pPr algn="ctr">
              <a:lnSpc>
                <a:spcPts val="7279"/>
              </a:lnSpc>
              <a:spcBef>
                <a:spcPct val="0"/>
              </a:spcBef>
            </a:pPr>
            <a:r>
              <a:rPr lang="en-US" sz="5199">
                <a:solidFill>
                  <a:srgbClr val="FFFFFF"/>
                </a:solidFill>
                <a:latin typeface="RQND Pro"/>
                <a:ea typeface="RQND Pro"/>
                <a:cs typeface="RQND Pro"/>
                <a:sym typeface="RQND Pro"/>
              </a:rPr>
              <a:t>06</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666" r="0" b="-16666"/>
            </a:stretch>
          </a:blipFill>
        </p:spPr>
      </p:sp>
      <p:sp>
        <p:nvSpPr>
          <p:cNvPr name="Freeform 3" id="3"/>
          <p:cNvSpPr/>
          <p:nvPr/>
        </p:nvSpPr>
        <p:spPr>
          <a:xfrm flipH="false" flipV="false" rot="0">
            <a:off x="2386705" y="4981180"/>
            <a:ext cx="1894745" cy="1860295"/>
          </a:xfrm>
          <a:custGeom>
            <a:avLst/>
            <a:gdLst/>
            <a:ahLst/>
            <a:cxnLst/>
            <a:rect r="r" b="b" t="t" l="l"/>
            <a:pathLst>
              <a:path h="1860295" w="1894745">
                <a:moveTo>
                  <a:pt x="0" y="0"/>
                </a:moveTo>
                <a:lnTo>
                  <a:pt x="1894745" y="0"/>
                </a:lnTo>
                <a:lnTo>
                  <a:pt x="1894745" y="1860295"/>
                </a:lnTo>
                <a:lnTo>
                  <a:pt x="0" y="1860295"/>
                </a:lnTo>
                <a:lnTo>
                  <a:pt x="0" y="0"/>
                </a:lnTo>
                <a:close/>
              </a:path>
            </a:pathLst>
          </a:custGeom>
          <a:blipFill>
            <a:blip r:embed="rId3">
              <a:alphaModFix amt="26000"/>
              <a:extLst>
                <a:ext uri="{96DAC541-7B7A-43D3-8B79-37D633B846F1}">
                  <asvg:svgBlip xmlns:asvg="http://schemas.microsoft.com/office/drawing/2016/SVG/main" r:embed="rId4"/>
                </a:ext>
              </a:extLst>
            </a:blip>
            <a:stretch>
              <a:fillRect l="0" t="0" r="0" b="0"/>
            </a:stretch>
          </a:blipFill>
        </p:spPr>
      </p:sp>
      <p:sp>
        <p:nvSpPr>
          <p:cNvPr name="AutoShape 4" id="4"/>
          <p:cNvSpPr/>
          <p:nvPr/>
        </p:nvSpPr>
        <p:spPr>
          <a:xfrm>
            <a:off x="9153525" y="2534586"/>
            <a:ext cx="0" cy="733862"/>
          </a:xfrm>
          <a:prstGeom prst="line">
            <a:avLst/>
          </a:prstGeom>
          <a:ln cap="flat" w="38100">
            <a:solidFill>
              <a:srgbClr val="FFFFFF"/>
            </a:solidFill>
            <a:prstDash val="solid"/>
            <a:headEnd type="none" len="sm" w="sm"/>
            <a:tailEnd type="none" len="sm" w="sm"/>
          </a:ln>
        </p:spPr>
      </p:sp>
      <p:grpSp>
        <p:nvGrpSpPr>
          <p:cNvPr name="Group 5" id="5"/>
          <p:cNvGrpSpPr/>
          <p:nvPr/>
        </p:nvGrpSpPr>
        <p:grpSpPr>
          <a:xfrm rot="0">
            <a:off x="7597387" y="1176074"/>
            <a:ext cx="3112276" cy="1358512"/>
            <a:chOff x="0" y="0"/>
            <a:chExt cx="819694" cy="357797"/>
          </a:xfrm>
        </p:grpSpPr>
        <p:sp>
          <p:nvSpPr>
            <p:cNvPr name="Freeform 6" id="6"/>
            <p:cNvSpPr/>
            <p:nvPr/>
          </p:nvSpPr>
          <p:spPr>
            <a:xfrm flipH="false" flipV="false" rot="0">
              <a:off x="0" y="0"/>
              <a:ext cx="819694" cy="357797"/>
            </a:xfrm>
            <a:custGeom>
              <a:avLst/>
              <a:gdLst/>
              <a:ahLst/>
              <a:cxnLst/>
              <a:rect r="r" b="b" t="t" l="l"/>
              <a:pathLst>
                <a:path h="357797" w="819694">
                  <a:moveTo>
                    <a:pt x="126865" y="0"/>
                  </a:moveTo>
                  <a:lnTo>
                    <a:pt x="692829" y="0"/>
                  </a:lnTo>
                  <a:cubicBezTo>
                    <a:pt x="726476" y="0"/>
                    <a:pt x="758744" y="13366"/>
                    <a:pt x="782536" y="37158"/>
                  </a:cubicBezTo>
                  <a:cubicBezTo>
                    <a:pt x="806328" y="60950"/>
                    <a:pt x="819694" y="93218"/>
                    <a:pt x="819694" y="126865"/>
                  </a:cubicBezTo>
                  <a:lnTo>
                    <a:pt x="819694" y="230933"/>
                  </a:lnTo>
                  <a:cubicBezTo>
                    <a:pt x="819694" y="264579"/>
                    <a:pt x="806328" y="296848"/>
                    <a:pt x="782536" y="320640"/>
                  </a:cubicBezTo>
                  <a:cubicBezTo>
                    <a:pt x="758744" y="344431"/>
                    <a:pt x="726476" y="357797"/>
                    <a:pt x="692829" y="357797"/>
                  </a:cubicBezTo>
                  <a:lnTo>
                    <a:pt x="126865" y="357797"/>
                  </a:lnTo>
                  <a:cubicBezTo>
                    <a:pt x="93218" y="357797"/>
                    <a:pt x="60950" y="344431"/>
                    <a:pt x="37158" y="320640"/>
                  </a:cubicBezTo>
                  <a:cubicBezTo>
                    <a:pt x="13366" y="296848"/>
                    <a:pt x="0" y="264579"/>
                    <a:pt x="0" y="230933"/>
                  </a:cubicBezTo>
                  <a:lnTo>
                    <a:pt x="0" y="126865"/>
                  </a:lnTo>
                  <a:cubicBezTo>
                    <a:pt x="0" y="93218"/>
                    <a:pt x="13366" y="60950"/>
                    <a:pt x="37158" y="37158"/>
                  </a:cubicBezTo>
                  <a:cubicBezTo>
                    <a:pt x="60950" y="13366"/>
                    <a:pt x="93218" y="0"/>
                    <a:pt x="126865" y="0"/>
                  </a:cubicBezTo>
                  <a:close/>
                </a:path>
              </a:pathLst>
            </a:custGeom>
            <a:solidFill>
              <a:srgbClr val="240960">
                <a:alpha val="42745"/>
              </a:srgbClr>
            </a:solidFill>
          </p:spPr>
        </p:sp>
        <p:sp>
          <p:nvSpPr>
            <p:cNvPr name="TextBox 7" id="7"/>
            <p:cNvSpPr txBox="true"/>
            <p:nvPr/>
          </p:nvSpPr>
          <p:spPr>
            <a:xfrm>
              <a:off x="0" y="-57150"/>
              <a:ext cx="819694" cy="414947"/>
            </a:xfrm>
            <a:prstGeom prst="rect">
              <a:avLst/>
            </a:prstGeom>
          </p:spPr>
          <p:txBody>
            <a:bodyPr anchor="ctr" rtlCol="false" tIns="50800" lIns="50800" bIns="50800" rIns="50800"/>
            <a:lstStyle/>
            <a:p>
              <a:pPr algn="ctr">
                <a:lnSpc>
                  <a:spcPts val="3467"/>
                </a:lnSpc>
              </a:pPr>
            </a:p>
          </p:txBody>
        </p:sp>
      </p:grpSp>
      <p:sp>
        <p:nvSpPr>
          <p:cNvPr name="TextBox 8" id="8"/>
          <p:cNvSpPr txBox="true"/>
          <p:nvPr/>
        </p:nvSpPr>
        <p:spPr>
          <a:xfrm rot="0">
            <a:off x="5391497" y="457112"/>
            <a:ext cx="7524055" cy="531443"/>
          </a:xfrm>
          <a:prstGeom prst="rect">
            <a:avLst/>
          </a:prstGeom>
        </p:spPr>
        <p:txBody>
          <a:bodyPr anchor="t" rtlCol="false" tIns="0" lIns="0" bIns="0" rIns="0">
            <a:spAutoFit/>
          </a:bodyPr>
          <a:lstStyle/>
          <a:p>
            <a:pPr algn="ctr">
              <a:lnSpc>
                <a:spcPts val="4307"/>
              </a:lnSpc>
              <a:spcBef>
                <a:spcPct val="0"/>
              </a:spcBef>
            </a:pPr>
            <a:r>
              <a:rPr lang="en-US" sz="3077" spc="1116">
                <a:solidFill>
                  <a:srgbClr val="FFFFFF"/>
                </a:solidFill>
                <a:latin typeface="RQND Pro Medium"/>
                <a:ea typeface="RQND Pro Medium"/>
                <a:cs typeface="RQND Pro Medium"/>
                <a:sym typeface="RQND Pro Medium"/>
              </a:rPr>
              <a:t>FLOWCHART</a:t>
            </a:r>
          </a:p>
        </p:txBody>
      </p:sp>
      <p:grpSp>
        <p:nvGrpSpPr>
          <p:cNvPr name="Group 9" id="9"/>
          <p:cNvGrpSpPr/>
          <p:nvPr/>
        </p:nvGrpSpPr>
        <p:grpSpPr>
          <a:xfrm rot="0">
            <a:off x="13719563" y="6842380"/>
            <a:ext cx="3857031" cy="3216762"/>
            <a:chOff x="0" y="0"/>
            <a:chExt cx="1015843" cy="847213"/>
          </a:xfrm>
        </p:grpSpPr>
        <p:sp>
          <p:nvSpPr>
            <p:cNvPr name="Freeform 10" id="10"/>
            <p:cNvSpPr/>
            <p:nvPr/>
          </p:nvSpPr>
          <p:spPr>
            <a:xfrm flipH="false" flipV="false" rot="0">
              <a:off x="0" y="0"/>
              <a:ext cx="1015844" cy="847213"/>
            </a:xfrm>
            <a:custGeom>
              <a:avLst/>
              <a:gdLst/>
              <a:ahLst/>
              <a:cxnLst/>
              <a:rect r="r" b="b" t="t" l="l"/>
              <a:pathLst>
                <a:path h="847213" w="1015844">
                  <a:moveTo>
                    <a:pt x="102368" y="0"/>
                  </a:moveTo>
                  <a:lnTo>
                    <a:pt x="913475" y="0"/>
                  </a:lnTo>
                  <a:cubicBezTo>
                    <a:pt x="970012" y="0"/>
                    <a:pt x="1015844" y="45832"/>
                    <a:pt x="1015844" y="102368"/>
                  </a:cubicBezTo>
                  <a:lnTo>
                    <a:pt x="1015844" y="744845"/>
                  </a:lnTo>
                  <a:cubicBezTo>
                    <a:pt x="1015844" y="801381"/>
                    <a:pt x="970012" y="847213"/>
                    <a:pt x="913475" y="847213"/>
                  </a:cubicBezTo>
                  <a:lnTo>
                    <a:pt x="102368" y="847213"/>
                  </a:lnTo>
                  <a:cubicBezTo>
                    <a:pt x="45832" y="847213"/>
                    <a:pt x="0" y="801381"/>
                    <a:pt x="0" y="744845"/>
                  </a:cubicBezTo>
                  <a:lnTo>
                    <a:pt x="0" y="102368"/>
                  </a:lnTo>
                  <a:cubicBezTo>
                    <a:pt x="0" y="45832"/>
                    <a:pt x="45832" y="0"/>
                    <a:pt x="102368" y="0"/>
                  </a:cubicBezTo>
                  <a:close/>
                </a:path>
              </a:pathLst>
            </a:custGeom>
            <a:solidFill>
              <a:srgbClr val="240960">
                <a:alpha val="42745"/>
              </a:srgbClr>
            </a:solidFill>
          </p:spPr>
        </p:sp>
        <p:sp>
          <p:nvSpPr>
            <p:cNvPr name="TextBox 11" id="11"/>
            <p:cNvSpPr txBox="true"/>
            <p:nvPr/>
          </p:nvSpPr>
          <p:spPr>
            <a:xfrm>
              <a:off x="0" y="-57150"/>
              <a:ext cx="1015843" cy="904363"/>
            </a:xfrm>
            <a:prstGeom prst="rect">
              <a:avLst/>
            </a:prstGeom>
          </p:spPr>
          <p:txBody>
            <a:bodyPr anchor="ctr" rtlCol="false" tIns="50800" lIns="50800" bIns="50800" rIns="50800"/>
            <a:lstStyle/>
            <a:p>
              <a:pPr algn="ctr">
                <a:lnSpc>
                  <a:spcPts val="3467"/>
                </a:lnSpc>
              </a:pPr>
            </a:p>
          </p:txBody>
        </p:sp>
      </p:grpSp>
      <p:sp>
        <p:nvSpPr>
          <p:cNvPr name="TextBox 12" id="12"/>
          <p:cNvSpPr txBox="true"/>
          <p:nvPr/>
        </p:nvSpPr>
        <p:spPr>
          <a:xfrm rot="0">
            <a:off x="16644433" y="132722"/>
            <a:ext cx="1229733" cy="895978"/>
          </a:xfrm>
          <a:prstGeom prst="rect">
            <a:avLst/>
          </a:prstGeom>
        </p:spPr>
        <p:txBody>
          <a:bodyPr anchor="t" rtlCol="false" tIns="0" lIns="0" bIns="0" rIns="0">
            <a:spAutoFit/>
          </a:bodyPr>
          <a:lstStyle/>
          <a:p>
            <a:pPr algn="ctr">
              <a:lnSpc>
                <a:spcPts val="7279"/>
              </a:lnSpc>
              <a:spcBef>
                <a:spcPct val="0"/>
              </a:spcBef>
            </a:pPr>
            <a:r>
              <a:rPr lang="en-US" sz="5199">
                <a:solidFill>
                  <a:srgbClr val="FFFFFF"/>
                </a:solidFill>
                <a:latin typeface="RQND Pro"/>
                <a:ea typeface="RQND Pro"/>
                <a:cs typeface="RQND Pro"/>
                <a:sym typeface="RQND Pro"/>
              </a:rPr>
              <a:t>07</a:t>
            </a:r>
          </a:p>
        </p:txBody>
      </p:sp>
      <p:sp>
        <p:nvSpPr>
          <p:cNvPr name="TextBox 13" id="13"/>
          <p:cNvSpPr txBox="true"/>
          <p:nvPr/>
        </p:nvSpPr>
        <p:spPr>
          <a:xfrm rot="0">
            <a:off x="7587862" y="1440989"/>
            <a:ext cx="3112276" cy="752481"/>
          </a:xfrm>
          <a:prstGeom prst="rect">
            <a:avLst/>
          </a:prstGeom>
        </p:spPr>
        <p:txBody>
          <a:bodyPr anchor="t" rtlCol="false" tIns="0" lIns="0" bIns="0" rIns="0">
            <a:spAutoFit/>
          </a:bodyPr>
          <a:lstStyle/>
          <a:p>
            <a:pPr algn="ctr">
              <a:lnSpc>
                <a:spcPts val="6299"/>
              </a:lnSpc>
              <a:spcBef>
                <a:spcPct val="0"/>
              </a:spcBef>
            </a:pPr>
            <a:r>
              <a:rPr lang="en-US" sz="4499">
                <a:solidFill>
                  <a:srgbClr val="FFFFFF"/>
                </a:solidFill>
                <a:latin typeface="Anton"/>
                <a:ea typeface="Anton"/>
                <a:cs typeface="Anton"/>
                <a:sym typeface="Anton"/>
              </a:rPr>
              <a:t>THE BIG IDEA</a:t>
            </a:r>
          </a:p>
        </p:txBody>
      </p:sp>
      <p:sp>
        <p:nvSpPr>
          <p:cNvPr name="AutoShape 14" id="14"/>
          <p:cNvSpPr/>
          <p:nvPr/>
        </p:nvSpPr>
        <p:spPr>
          <a:xfrm>
            <a:off x="2367655" y="3315593"/>
            <a:ext cx="13198008" cy="0"/>
          </a:xfrm>
          <a:prstGeom prst="line">
            <a:avLst/>
          </a:prstGeom>
          <a:ln cap="flat" w="38100">
            <a:solidFill>
              <a:srgbClr val="FFFFFF"/>
            </a:solidFill>
            <a:prstDash val="solid"/>
            <a:headEnd type="none" len="sm" w="sm"/>
            <a:tailEnd type="none" len="sm" w="sm"/>
          </a:ln>
        </p:spPr>
      </p:sp>
      <p:sp>
        <p:nvSpPr>
          <p:cNvPr name="AutoShape 15" id="15"/>
          <p:cNvSpPr/>
          <p:nvPr/>
        </p:nvSpPr>
        <p:spPr>
          <a:xfrm>
            <a:off x="2386705" y="3315593"/>
            <a:ext cx="0" cy="733862"/>
          </a:xfrm>
          <a:prstGeom prst="line">
            <a:avLst/>
          </a:prstGeom>
          <a:ln cap="flat" w="38100">
            <a:solidFill>
              <a:srgbClr val="FFFFFF"/>
            </a:solidFill>
            <a:prstDash val="solid"/>
            <a:headEnd type="none" len="sm" w="sm"/>
            <a:tailEnd type="none" len="sm" w="sm"/>
          </a:ln>
        </p:spPr>
      </p:sp>
      <p:sp>
        <p:nvSpPr>
          <p:cNvPr name="AutoShape 16" id="16"/>
          <p:cNvSpPr/>
          <p:nvPr/>
        </p:nvSpPr>
        <p:spPr>
          <a:xfrm>
            <a:off x="15546612" y="3315593"/>
            <a:ext cx="0" cy="481025"/>
          </a:xfrm>
          <a:prstGeom prst="line">
            <a:avLst/>
          </a:prstGeom>
          <a:ln cap="flat" w="38100">
            <a:solidFill>
              <a:srgbClr val="FFFFFF"/>
            </a:solidFill>
            <a:prstDash val="solid"/>
            <a:headEnd type="none" len="sm" w="sm"/>
            <a:tailEnd type="none" len="sm" w="sm"/>
          </a:ln>
        </p:spPr>
      </p:sp>
      <p:grpSp>
        <p:nvGrpSpPr>
          <p:cNvPr name="Group 17" id="17"/>
          <p:cNvGrpSpPr/>
          <p:nvPr/>
        </p:nvGrpSpPr>
        <p:grpSpPr>
          <a:xfrm rot="0">
            <a:off x="1287157" y="4049455"/>
            <a:ext cx="2160995" cy="704507"/>
            <a:chOff x="0" y="0"/>
            <a:chExt cx="569151" cy="185549"/>
          </a:xfrm>
        </p:grpSpPr>
        <p:sp>
          <p:nvSpPr>
            <p:cNvPr name="Freeform 18" id="18"/>
            <p:cNvSpPr/>
            <p:nvPr/>
          </p:nvSpPr>
          <p:spPr>
            <a:xfrm flipH="false" flipV="false" rot="0">
              <a:off x="0" y="0"/>
              <a:ext cx="569151" cy="185549"/>
            </a:xfrm>
            <a:custGeom>
              <a:avLst/>
              <a:gdLst/>
              <a:ahLst/>
              <a:cxnLst/>
              <a:rect r="r" b="b" t="t" l="l"/>
              <a:pathLst>
                <a:path h="185549" w="569151">
                  <a:moveTo>
                    <a:pt x="92775" y="0"/>
                  </a:moveTo>
                  <a:lnTo>
                    <a:pt x="476376" y="0"/>
                  </a:lnTo>
                  <a:cubicBezTo>
                    <a:pt x="500982" y="0"/>
                    <a:pt x="524579" y="9774"/>
                    <a:pt x="541978" y="27173"/>
                  </a:cubicBezTo>
                  <a:cubicBezTo>
                    <a:pt x="559376" y="44572"/>
                    <a:pt x="569151" y="68169"/>
                    <a:pt x="569151" y="92775"/>
                  </a:cubicBezTo>
                  <a:lnTo>
                    <a:pt x="569151" y="92775"/>
                  </a:lnTo>
                  <a:cubicBezTo>
                    <a:pt x="569151" y="117380"/>
                    <a:pt x="559376" y="140977"/>
                    <a:pt x="541978" y="158376"/>
                  </a:cubicBezTo>
                  <a:cubicBezTo>
                    <a:pt x="524579" y="175775"/>
                    <a:pt x="500982" y="185549"/>
                    <a:pt x="476376" y="185549"/>
                  </a:cubicBezTo>
                  <a:lnTo>
                    <a:pt x="92775" y="185549"/>
                  </a:lnTo>
                  <a:cubicBezTo>
                    <a:pt x="68169" y="185549"/>
                    <a:pt x="44572" y="175775"/>
                    <a:pt x="27173" y="158376"/>
                  </a:cubicBezTo>
                  <a:cubicBezTo>
                    <a:pt x="9774" y="140977"/>
                    <a:pt x="0" y="117380"/>
                    <a:pt x="0" y="92775"/>
                  </a:cubicBezTo>
                  <a:lnTo>
                    <a:pt x="0" y="92775"/>
                  </a:lnTo>
                  <a:cubicBezTo>
                    <a:pt x="0" y="68169"/>
                    <a:pt x="9774" y="44572"/>
                    <a:pt x="27173" y="27173"/>
                  </a:cubicBezTo>
                  <a:cubicBezTo>
                    <a:pt x="44572" y="9774"/>
                    <a:pt x="68169" y="0"/>
                    <a:pt x="92775" y="0"/>
                  </a:cubicBezTo>
                  <a:close/>
                </a:path>
              </a:pathLst>
            </a:custGeom>
            <a:solidFill>
              <a:srgbClr val="240960">
                <a:alpha val="42745"/>
              </a:srgbClr>
            </a:solidFill>
          </p:spPr>
        </p:sp>
        <p:sp>
          <p:nvSpPr>
            <p:cNvPr name="TextBox 19" id="19"/>
            <p:cNvSpPr txBox="true"/>
            <p:nvPr/>
          </p:nvSpPr>
          <p:spPr>
            <a:xfrm>
              <a:off x="0" y="-57150"/>
              <a:ext cx="569151" cy="242699"/>
            </a:xfrm>
            <a:prstGeom prst="rect">
              <a:avLst/>
            </a:prstGeom>
          </p:spPr>
          <p:txBody>
            <a:bodyPr anchor="ctr" rtlCol="false" tIns="50800" lIns="50800" bIns="50800" rIns="50800"/>
            <a:lstStyle/>
            <a:p>
              <a:pPr algn="ctr">
                <a:lnSpc>
                  <a:spcPts val="3467"/>
                </a:lnSpc>
              </a:pPr>
            </a:p>
          </p:txBody>
        </p:sp>
      </p:grpSp>
      <p:grpSp>
        <p:nvGrpSpPr>
          <p:cNvPr name="Group 20" id="20"/>
          <p:cNvGrpSpPr/>
          <p:nvPr/>
        </p:nvGrpSpPr>
        <p:grpSpPr>
          <a:xfrm rot="0">
            <a:off x="14353018" y="3960479"/>
            <a:ext cx="2425288" cy="787098"/>
            <a:chOff x="0" y="0"/>
            <a:chExt cx="638759" cy="207302"/>
          </a:xfrm>
        </p:grpSpPr>
        <p:sp>
          <p:nvSpPr>
            <p:cNvPr name="Freeform 21" id="21"/>
            <p:cNvSpPr/>
            <p:nvPr/>
          </p:nvSpPr>
          <p:spPr>
            <a:xfrm flipH="false" flipV="false" rot="0">
              <a:off x="0" y="0"/>
              <a:ext cx="638759" cy="207302"/>
            </a:xfrm>
            <a:custGeom>
              <a:avLst/>
              <a:gdLst/>
              <a:ahLst/>
              <a:cxnLst/>
              <a:rect r="r" b="b" t="t" l="l"/>
              <a:pathLst>
                <a:path h="207302" w="638759">
                  <a:moveTo>
                    <a:pt x="103651" y="0"/>
                  </a:moveTo>
                  <a:lnTo>
                    <a:pt x="535108" y="0"/>
                  </a:lnTo>
                  <a:cubicBezTo>
                    <a:pt x="562598" y="0"/>
                    <a:pt x="588962" y="10920"/>
                    <a:pt x="608400" y="30359"/>
                  </a:cubicBezTo>
                  <a:cubicBezTo>
                    <a:pt x="627839" y="49797"/>
                    <a:pt x="638759" y="76161"/>
                    <a:pt x="638759" y="103651"/>
                  </a:cubicBezTo>
                  <a:lnTo>
                    <a:pt x="638759" y="103651"/>
                  </a:lnTo>
                  <a:cubicBezTo>
                    <a:pt x="638759" y="131141"/>
                    <a:pt x="627839" y="157505"/>
                    <a:pt x="608400" y="176943"/>
                  </a:cubicBezTo>
                  <a:cubicBezTo>
                    <a:pt x="588962" y="196381"/>
                    <a:pt x="562598" y="207302"/>
                    <a:pt x="535108" y="207302"/>
                  </a:cubicBezTo>
                  <a:lnTo>
                    <a:pt x="103651" y="207302"/>
                  </a:lnTo>
                  <a:cubicBezTo>
                    <a:pt x="76161" y="207302"/>
                    <a:pt x="49797" y="196381"/>
                    <a:pt x="30359" y="176943"/>
                  </a:cubicBezTo>
                  <a:cubicBezTo>
                    <a:pt x="10920" y="157505"/>
                    <a:pt x="0" y="131141"/>
                    <a:pt x="0" y="103651"/>
                  </a:cubicBezTo>
                  <a:lnTo>
                    <a:pt x="0" y="103651"/>
                  </a:lnTo>
                  <a:cubicBezTo>
                    <a:pt x="0" y="76161"/>
                    <a:pt x="10920" y="49797"/>
                    <a:pt x="30359" y="30359"/>
                  </a:cubicBezTo>
                  <a:cubicBezTo>
                    <a:pt x="49797" y="10920"/>
                    <a:pt x="76161" y="0"/>
                    <a:pt x="103651" y="0"/>
                  </a:cubicBezTo>
                  <a:close/>
                </a:path>
              </a:pathLst>
            </a:custGeom>
            <a:solidFill>
              <a:srgbClr val="240960">
                <a:alpha val="42745"/>
              </a:srgbClr>
            </a:solidFill>
          </p:spPr>
        </p:sp>
        <p:sp>
          <p:nvSpPr>
            <p:cNvPr name="TextBox 22" id="22"/>
            <p:cNvSpPr txBox="true"/>
            <p:nvPr/>
          </p:nvSpPr>
          <p:spPr>
            <a:xfrm>
              <a:off x="0" y="-57150"/>
              <a:ext cx="638759" cy="264452"/>
            </a:xfrm>
            <a:prstGeom prst="rect">
              <a:avLst/>
            </a:prstGeom>
          </p:spPr>
          <p:txBody>
            <a:bodyPr anchor="ctr" rtlCol="false" tIns="50800" lIns="50800" bIns="50800" rIns="50800"/>
            <a:lstStyle/>
            <a:p>
              <a:pPr algn="ctr">
                <a:lnSpc>
                  <a:spcPts val="3467"/>
                </a:lnSpc>
              </a:pPr>
            </a:p>
          </p:txBody>
        </p:sp>
      </p:grpSp>
      <p:sp>
        <p:nvSpPr>
          <p:cNvPr name="TextBox 23" id="23"/>
          <p:cNvSpPr txBox="true"/>
          <p:nvPr/>
        </p:nvSpPr>
        <p:spPr>
          <a:xfrm rot="0">
            <a:off x="9139238" y="4652327"/>
            <a:ext cx="9525" cy="887095"/>
          </a:xfrm>
          <a:prstGeom prst="rect">
            <a:avLst/>
          </a:prstGeom>
        </p:spPr>
        <p:txBody>
          <a:bodyPr anchor="t" rtlCol="false" tIns="0" lIns="0" bIns="0" rIns="0">
            <a:spAutoFit/>
          </a:bodyPr>
          <a:lstStyle/>
          <a:p>
            <a:pPr algn="ctr">
              <a:lnSpc>
                <a:spcPts val="7279"/>
              </a:lnSpc>
            </a:pPr>
          </a:p>
        </p:txBody>
      </p:sp>
      <p:sp>
        <p:nvSpPr>
          <p:cNvPr name="TextBox 24" id="24"/>
          <p:cNvSpPr txBox="true"/>
          <p:nvPr/>
        </p:nvSpPr>
        <p:spPr>
          <a:xfrm rot="0">
            <a:off x="1441795" y="4135951"/>
            <a:ext cx="1889820" cy="514350"/>
          </a:xfrm>
          <a:prstGeom prst="rect">
            <a:avLst/>
          </a:prstGeom>
        </p:spPr>
        <p:txBody>
          <a:bodyPr anchor="t" rtlCol="false" tIns="0" lIns="0" bIns="0" rIns="0">
            <a:spAutoFit/>
          </a:bodyPr>
          <a:lstStyle/>
          <a:p>
            <a:pPr algn="ctr">
              <a:lnSpc>
                <a:spcPts val="4200"/>
              </a:lnSpc>
            </a:pPr>
            <a:r>
              <a:rPr lang="en-US" sz="3000">
                <a:solidFill>
                  <a:srgbClr val="FFFFFF"/>
                </a:solidFill>
                <a:latin typeface="Montaser Arabic"/>
                <a:ea typeface="Montaser Arabic"/>
                <a:cs typeface="Montaser Arabic"/>
                <a:sym typeface="Montaser Arabic"/>
              </a:rPr>
              <a:t>SERVICES</a:t>
            </a:r>
          </a:p>
        </p:txBody>
      </p:sp>
      <p:sp>
        <p:nvSpPr>
          <p:cNvPr name="TextBox 25" id="25"/>
          <p:cNvSpPr txBox="true"/>
          <p:nvPr/>
        </p:nvSpPr>
        <p:spPr>
          <a:xfrm rot="0">
            <a:off x="14491619" y="4115958"/>
            <a:ext cx="2148086" cy="514350"/>
          </a:xfrm>
          <a:prstGeom prst="rect">
            <a:avLst/>
          </a:prstGeom>
        </p:spPr>
        <p:txBody>
          <a:bodyPr anchor="t" rtlCol="false" tIns="0" lIns="0" bIns="0" rIns="0">
            <a:spAutoFit/>
          </a:bodyPr>
          <a:lstStyle/>
          <a:p>
            <a:pPr algn="ctr">
              <a:lnSpc>
                <a:spcPts val="4200"/>
              </a:lnSpc>
            </a:pPr>
            <a:r>
              <a:rPr lang="en-US" sz="3000">
                <a:solidFill>
                  <a:srgbClr val="FFFFFF"/>
                </a:solidFill>
                <a:latin typeface="Montaser Arabic"/>
                <a:ea typeface="Montaser Arabic"/>
                <a:cs typeface="Montaser Arabic"/>
                <a:sym typeface="Montaser Arabic"/>
              </a:rPr>
              <a:t>PRODUCTS</a:t>
            </a:r>
          </a:p>
        </p:txBody>
      </p:sp>
      <p:grpSp>
        <p:nvGrpSpPr>
          <p:cNvPr name="Group 26" id="26"/>
          <p:cNvGrpSpPr/>
          <p:nvPr/>
        </p:nvGrpSpPr>
        <p:grpSpPr>
          <a:xfrm rot="0">
            <a:off x="889559" y="5207522"/>
            <a:ext cx="2994292" cy="4851620"/>
            <a:chOff x="0" y="0"/>
            <a:chExt cx="788620" cy="1277793"/>
          </a:xfrm>
        </p:grpSpPr>
        <p:sp>
          <p:nvSpPr>
            <p:cNvPr name="Freeform 27" id="27"/>
            <p:cNvSpPr/>
            <p:nvPr/>
          </p:nvSpPr>
          <p:spPr>
            <a:xfrm flipH="false" flipV="false" rot="0">
              <a:off x="0" y="0"/>
              <a:ext cx="788620" cy="1277793"/>
            </a:xfrm>
            <a:custGeom>
              <a:avLst/>
              <a:gdLst/>
              <a:ahLst/>
              <a:cxnLst/>
              <a:rect r="r" b="b" t="t" l="l"/>
              <a:pathLst>
                <a:path h="1277793" w="788620">
                  <a:moveTo>
                    <a:pt x="131864" y="0"/>
                  </a:moveTo>
                  <a:lnTo>
                    <a:pt x="656757" y="0"/>
                  </a:lnTo>
                  <a:cubicBezTo>
                    <a:pt x="691729" y="0"/>
                    <a:pt x="725269" y="13893"/>
                    <a:pt x="749998" y="38622"/>
                  </a:cubicBezTo>
                  <a:cubicBezTo>
                    <a:pt x="774727" y="63351"/>
                    <a:pt x="788620" y="96891"/>
                    <a:pt x="788620" y="131864"/>
                  </a:cubicBezTo>
                  <a:lnTo>
                    <a:pt x="788620" y="1145929"/>
                  </a:lnTo>
                  <a:cubicBezTo>
                    <a:pt x="788620" y="1180902"/>
                    <a:pt x="774727" y="1214442"/>
                    <a:pt x="749998" y="1239171"/>
                  </a:cubicBezTo>
                  <a:cubicBezTo>
                    <a:pt x="725269" y="1263900"/>
                    <a:pt x="691729" y="1277793"/>
                    <a:pt x="656757" y="1277793"/>
                  </a:cubicBezTo>
                  <a:lnTo>
                    <a:pt x="131864" y="1277793"/>
                  </a:lnTo>
                  <a:cubicBezTo>
                    <a:pt x="96891" y="1277793"/>
                    <a:pt x="63351" y="1263900"/>
                    <a:pt x="38622" y="1239171"/>
                  </a:cubicBezTo>
                  <a:cubicBezTo>
                    <a:pt x="13893" y="1214442"/>
                    <a:pt x="0" y="1180902"/>
                    <a:pt x="0" y="1145929"/>
                  </a:cubicBezTo>
                  <a:lnTo>
                    <a:pt x="0" y="131864"/>
                  </a:lnTo>
                  <a:cubicBezTo>
                    <a:pt x="0" y="96891"/>
                    <a:pt x="13893" y="63351"/>
                    <a:pt x="38622" y="38622"/>
                  </a:cubicBezTo>
                  <a:cubicBezTo>
                    <a:pt x="63351" y="13893"/>
                    <a:pt x="96891" y="0"/>
                    <a:pt x="131864" y="0"/>
                  </a:cubicBezTo>
                  <a:close/>
                </a:path>
              </a:pathLst>
            </a:custGeom>
            <a:solidFill>
              <a:srgbClr val="240960">
                <a:alpha val="42745"/>
              </a:srgbClr>
            </a:solidFill>
          </p:spPr>
        </p:sp>
        <p:sp>
          <p:nvSpPr>
            <p:cNvPr name="TextBox 28" id="28"/>
            <p:cNvSpPr txBox="true"/>
            <p:nvPr/>
          </p:nvSpPr>
          <p:spPr>
            <a:xfrm>
              <a:off x="0" y="-57150"/>
              <a:ext cx="788620" cy="1334943"/>
            </a:xfrm>
            <a:prstGeom prst="rect">
              <a:avLst/>
            </a:prstGeom>
          </p:spPr>
          <p:txBody>
            <a:bodyPr anchor="ctr" rtlCol="false" tIns="50800" lIns="50800" bIns="50800" rIns="50800"/>
            <a:lstStyle/>
            <a:p>
              <a:pPr algn="ctr">
                <a:lnSpc>
                  <a:spcPts val="3467"/>
                </a:lnSpc>
              </a:pPr>
            </a:p>
          </p:txBody>
        </p:sp>
      </p:grpSp>
      <p:sp>
        <p:nvSpPr>
          <p:cNvPr name="AutoShape 29" id="29"/>
          <p:cNvSpPr/>
          <p:nvPr/>
        </p:nvSpPr>
        <p:spPr>
          <a:xfrm>
            <a:off x="2386705" y="4753962"/>
            <a:ext cx="0" cy="430457"/>
          </a:xfrm>
          <a:prstGeom prst="line">
            <a:avLst/>
          </a:prstGeom>
          <a:ln cap="flat" w="38100">
            <a:solidFill>
              <a:srgbClr val="FFFFFF"/>
            </a:solidFill>
            <a:prstDash val="solid"/>
            <a:headEnd type="none" len="sm" w="sm"/>
            <a:tailEnd type="none" len="sm" w="sm"/>
          </a:ln>
        </p:spPr>
      </p:sp>
      <p:sp>
        <p:nvSpPr>
          <p:cNvPr name="TextBox 30" id="30"/>
          <p:cNvSpPr txBox="true"/>
          <p:nvPr/>
        </p:nvSpPr>
        <p:spPr>
          <a:xfrm rot="0">
            <a:off x="889559" y="5555612"/>
            <a:ext cx="2994292" cy="3583940"/>
          </a:xfrm>
          <a:prstGeom prst="rect">
            <a:avLst/>
          </a:prstGeom>
        </p:spPr>
        <p:txBody>
          <a:bodyPr anchor="t" rtlCol="false" tIns="0" lIns="0" bIns="0" rIns="0">
            <a:spAutoFit/>
          </a:bodyPr>
          <a:lstStyle/>
          <a:p>
            <a:pPr algn="l" marL="626112" indent="-313056" lvl="1">
              <a:lnSpc>
                <a:spcPts val="4060"/>
              </a:lnSpc>
              <a:buFont typeface="Arial"/>
              <a:buChar char="•"/>
            </a:pPr>
            <a:r>
              <a:rPr lang="en-US" sz="2900">
                <a:solidFill>
                  <a:srgbClr val="FFFFFF"/>
                </a:solidFill>
                <a:latin typeface="Canva Sans"/>
                <a:ea typeface="Canva Sans"/>
                <a:cs typeface="Canva Sans"/>
                <a:sym typeface="Canva Sans"/>
              </a:rPr>
              <a:t>Real time analyser</a:t>
            </a:r>
          </a:p>
          <a:p>
            <a:pPr algn="l" marL="626112" indent="-313056" lvl="1">
              <a:lnSpc>
                <a:spcPts val="4060"/>
              </a:lnSpc>
              <a:buFont typeface="Arial"/>
              <a:buChar char="•"/>
            </a:pPr>
            <a:r>
              <a:rPr lang="en-US" sz="2900">
                <a:solidFill>
                  <a:srgbClr val="FFFFFF"/>
                </a:solidFill>
                <a:latin typeface="Canva Sans"/>
                <a:ea typeface="Canva Sans"/>
                <a:cs typeface="Canva Sans"/>
                <a:sym typeface="Canva Sans"/>
              </a:rPr>
              <a:t>Mood analyser</a:t>
            </a:r>
          </a:p>
          <a:p>
            <a:pPr algn="l" marL="626112" indent="-313056" lvl="1">
              <a:lnSpc>
                <a:spcPts val="4060"/>
              </a:lnSpc>
              <a:buFont typeface="Arial"/>
              <a:buChar char="•"/>
            </a:pPr>
            <a:r>
              <a:rPr lang="en-US" sz="2900">
                <a:solidFill>
                  <a:srgbClr val="FFFFFF"/>
                </a:solidFill>
                <a:latin typeface="Canva Sans"/>
                <a:ea typeface="Canva Sans"/>
                <a:cs typeface="Canva Sans"/>
                <a:sym typeface="Canva Sans"/>
              </a:rPr>
              <a:t>Self-help station</a:t>
            </a:r>
          </a:p>
          <a:p>
            <a:pPr algn="l" marL="626112" indent="-313056" lvl="1">
              <a:lnSpc>
                <a:spcPts val="4060"/>
              </a:lnSpc>
              <a:buFont typeface="Arial"/>
              <a:buChar char="•"/>
            </a:pPr>
            <a:r>
              <a:rPr lang="en-US" sz="2900">
                <a:solidFill>
                  <a:srgbClr val="FFFFFF"/>
                </a:solidFill>
                <a:latin typeface="Canva Sans"/>
                <a:ea typeface="Canva Sans"/>
                <a:cs typeface="Canva Sans"/>
                <a:sym typeface="Canva Sans"/>
              </a:rPr>
              <a:t>Query desk</a:t>
            </a:r>
          </a:p>
        </p:txBody>
      </p:sp>
      <p:sp>
        <p:nvSpPr>
          <p:cNvPr name="AutoShape 31" id="31"/>
          <p:cNvSpPr/>
          <p:nvPr/>
        </p:nvSpPr>
        <p:spPr>
          <a:xfrm>
            <a:off x="15584712" y="4726497"/>
            <a:ext cx="0" cy="481025"/>
          </a:xfrm>
          <a:prstGeom prst="line">
            <a:avLst/>
          </a:prstGeom>
          <a:ln cap="flat" w="38100">
            <a:solidFill>
              <a:srgbClr val="FFFFFF"/>
            </a:solidFill>
            <a:prstDash val="solid"/>
            <a:headEnd type="none" len="sm" w="sm"/>
            <a:tailEnd type="none" len="sm" w="sm"/>
          </a:ln>
        </p:spPr>
      </p:sp>
      <p:sp>
        <p:nvSpPr>
          <p:cNvPr name="AutoShape 32" id="32"/>
          <p:cNvSpPr/>
          <p:nvPr/>
        </p:nvSpPr>
        <p:spPr>
          <a:xfrm>
            <a:off x="8757770" y="5184419"/>
            <a:ext cx="6826942" cy="4052"/>
          </a:xfrm>
          <a:prstGeom prst="line">
            <a:avLst/>
          </a:prstGeom>
          <a:ln cap="flat" w="38100">
            <a:solidFill>
              <a:srgbClr val="FFFFFF"/>
            </a:solidFill>
            <a:prstDash val="solid"/>
            <a:headEnd type="none" len="sm" w="sm"/>
            <a:tailEnd type="none" len="sm" w="sm"/>
          </a:ln>
        </p:spPr>
      </p:sp>
      <p:sp>
        <p:nvSpPr>
          <p:cNvPr name="AutoShape 33" id="33"/>
          <p:cNvSpPr/>
          <p:nvPr/>
        </p:nvSpPr>
        <p:spPr>
          <a:xfrm>
            <a:off x="8776820" y="5184419"/>
            <a:ext cx="0" cy="481025"/>
          </a:xfrm>
          <a:prstGeom prst="line">
            <a:avLst/>
          </a:prstGeom>
          <a:ln cap="flat" w="38100">
            <a:solidFill>
              <a:srgbClr val="FFFFFF"/>
            </a:solidFill>
            <a:prstDash val="solid"/>
            <a:headEnd type="none" len="sm" w="sm"/>
            <a:tailEnd type="none" len="sm" w="sm"/>
          </a:ln>
        </p:spPr>
      </p:sp>
      <p:grpSp>
        <p:nvGrpSpPr>
          <p:cNvPr name="Group 34" id="34"/>
          <p:cNvGrpSpPr/>
          <p:nvPr/>
        </p:nvGrpSpPr>
        <p:grpSpPr>
          <a:xfrm rot="0">
            <a:off x="6852632" y="5694019"/>
            <a:ext cx="3857031" cy="699569"/>
            <a:chOff x="0" y="0"/>
            <a:chExt cx="1015843" cy="184249"/>
          </a:xfrm>
        </p:grpSpPr>
        <p:sp>
          <p:nvSpPr>
            <p:cNvPr name="Freeform 35" id="35"/>
            <p:cNvSpPr/>
            <p:nvPr/>
          </p:nvSpPr>
          <p:spPr>
            <a:xfrm flipH="false" flipV="false" rot="0">
              <a:off x="0" y="0"/>
              <a:ext cx="1015844" cy="184249"/>
            </a:xfrm>
            <a:custGeom>
              <a:avLst/>
              <a:gdLst/>
              <a:ahLst/>
              <a:cxnLst/>
              <a:rect r="r" b="b" t="t" l="l"/>
              <a:pathLst>
                <a:path h="184249" w="1015844">
                  <a:moveTo>
                    <a:pt x="92124" y="0"/>
                  </a:moveTo>
                  <a:lnTo>
                    <a:pt x="923719" y="0"/>
                  </a:lnTo>
                  <a:cubicBezTo>
                    <a:pt x="948152" y="0"/>
                    <a:pt x="971584" y="9706"/>
                    <a:pt x="988861" y="26983"/>
                  </a:cubicBezTo>
                  <a:cubicBezTo>
                    <a:pt x="1006138" y="44259"/>
                    <a:pt x="1015844" y="67691"/>
                    <a:pt x="1015844" y="92124"/>
                  </a:cubicBezTo>
                  <a:lnTo>
                    <a:pt x="1015844" y="92124"/>
                  </a:lnTo>
                  <a:cubicBezTo>
                    <a:pt x="1015844" y="143003"/>
                    <a:pt x="974598" y="184249"/>
                    <a:pt x="923719" y="184249"/>
                  </a:cubicBezTo>
                  <a:lnTo>
                    <a:pt x="92124" y="184249"/>
                  </a:lnTo>
                  <a:cubicBezTo>
                    <a:pt x="41245" y="184249"/>
                    <a:pt x="0" y="143003"/>
                    <a:pt x="0" y="92124"/>
                  </a:cubicBezTo>
                  <a:lnTo>
                    <a:pt x="0" y="92124"/>
                  </a:lnTo>
                  <a:cubicBezTo>
                    <a:pt x="0" y="41245"/>
                    <a:pt x="41245" y="0"/>
                    <a:pt x="92124" y="0"/>
                  </a:cubicBezTo>
                  <a:close/>
                </a:path>
              </a:pathLst>
            </a:custGeom>
            <a:solidFill>
              <a:srgbClr val="240960">
                <a:alpha val="42745"/>
              </a:srgbClr>
            </a:solidFill>
          </p:spPr>
        </p:sp>
        <p:sp>
          <p:nvSpPr>
            <p:cNvPr name="TextBox 36" id="36"/>
            <p:cNvSpPr txBox="true"/>
            <p:nvPr/>
          </p:nvSpPr>
          <p:spPr>
            <a:xfrm>
              <a:off x="0" y="-57150"/>
              <a:ext cx="1015843" cy="241399"/>
            </a:xfrm>
            <a:prstGeom prst="rect">
              <a:avLst/>
            </a:prstGeom>
          </p:spPr>
          <p:txBody>
            <a:bodyPr anchor="ctr" rtlCol="false" tIns="50800" lIns="50800" bIns="50800" rIns="50800"/>
            <a:lstStyle/>
            <a:p>
              <a:pPr algn="ctr">
                <a:lnSpc>
                  <a:spcPts val="3467"/>
                </a:lnSpc>
              </a:pPr>
            </a:p>
          </p:txBody>
        </p:sp>
      </p:grpSp>
      <p:sp>
        <p:nvSpPr>
          <p:cNvPr name="TextBox 37" id="37"/>
          <p:cNvSpPr txBox="true"/>
          <p:nvPr/>
        </p:nvSpPr>
        <p:spPr>
          <a:xfrm rot="0">
            <a:off x="7738000" y="5773243"/>
            <a:ext cx="2039541" cy="514350"/>
          </a:xfrm>
          <a:prstGeom prst="rect">
            <a:avLst/>
          </a:prstGeom>
        </p:spPr>
        <p:txBody>
          <a:bodyPr anchor="t" rtlCol="false" tIns="0" lIns="0" bIns="0" rIns="0">
            <a:spAutoFit/>
          </a:bodyPr>
          <a:lstStyle/>
          <a:p>
            <a:pPr algn="ctr">
              <a:lnSpc>
                <a:spcPts val="4200"/>
              </a:lnSpc>
            </a:pPr>
            <a:r>
              <a:rPr lang="en-US" sz="3000">
                <a:solidFill>
                  <a:srgbClr val="FFFFFF"/>
                </a:solidFill>
                <a:latin typeface="Montaser Arabic"/>
                <a:ea typeface="Montaser Arabic"/>
                <a:cs typeface="Montaser Arabic"/>
                <a:sym typeface="Montaser Arabic"/>
              </a:rPr>
              <a:t>FAIRSIGHT</a:t>
            </a:r>
          </a:p>
        </p:txBody>
      </p:sp>
      <p:grpSp>
        <p:nvGrpSpPr>
          <p:cNvPr name="Group 38" id="38"/>
          <p:cNvGrpSpPr/>
          <p:nvPr/>
        </p:nvGrpSpPr>
        <p:grpSpPr>
          <a:xfrm rot="0">
            <a:off x="6871682" y="6768618"/>
            <a:ext cx="3857031" cy="3216762"/>
            <a:chOff x="0" y="0"/>
            <a:chExt cx="1015843" cy="847213"/>
          </a:xfrm>
        </p:grpSpPr>
        <p:sp>
          <p:nvSpPr>
            <p:cNvPr name="Freeform 39" id="39"/>
            <p:cNvSpPr/>
            <p:nvPr/>
          </p:nvSpPr>
          <p:spPr>
            <a:xfrm flipH="false" flipV="false" rot="0">
              <a:off x="0" y="0"/>
              <a:ext cx="1015844" cy="847213"/>
            </a:xfrm>
            <a:custGeom>
              <a:avLst/>
              <a:gdLst/>
              <a:ahLst/>
              <a:cxnLst/>
              <a:rect r="r" b="b" t="t" l="l"/>
              <a:pathLst>
                <a:path h="847213" w="1015844">
                  <a:moveTo>
                    <a:pt x="102368" y="0"/>
                  </a:moveTo>
                  <a:lnTo>
                    <a:pt x="913475" y="0"/>
                  </a:lnTo>
                  <a:cubicBezTo>
                    <a:pt x="970012" y="0"/>
                    <a:pt x="1015844" y="45832"/>
                    <a:pt x="1015844" y="102368"/>
                  </a:cubicBezTo>
                  <a:lnTo>
                    <a:pt x="1015844" y="744845"/>
                  </a:lnTo>
                  <a:cubicBezTo>
                    <a:pt x="1015844" y="801381"/>
                    <a:pt x="970012" y="847213"/>
                    <a:pt x="913475" y="847213"/>
                  </a:cubicBezTo>
                  <a:lnTo>
                    <a:pt x="102368" y="847213"/>
                  </a:lnTo>
                  <a:cubicBezTo>
                    <a:pt x="45832" y="847213"/>
                    <a:pt x="0" y="801381"/>
                    <a:pt x="0" y="744845"/>
                  </a:cubicBezTo>
                  <a:lnTo>
                    <a:pt x="0" y="102368"/>
                  </a:lnTo>
                  <a:cubicBezTo>
                    <a:pt x="0" y="45832"/>
                    <a:pt x="45832" y="0"/>
                    <a:pt x="102368" y="0"/>
                  </a:cubicBezTo>
                  <a:close/>
                </a:path>
              </a:pathLst>
            </a:custGeom>
            <a:solidFill>
              <a:srgbClr val="240960">
                <a:alpha val="42745"/>
              </a:srgbClr>
            </a:solidFill>
          </p:spPr>
        </p:sp>
        <p:sp>
          <p:nvSpPr>
            <p:cNvPr name="TextBox 40" id="40"/>
            <p:cNvSpPr txBox="true"/>
            <p:nvPr/>
          </p:nvSpPr>
          <p:spPr>
            <a:xfrm>
              <a:off x="0" y="-57150"/>
              <a:ext cx="1015843" cy="904363"/>
            </a:xfrm>
            <a:prstGeom prst="rect">
              <a:avLst/>
            </a:prstGeom>
          </p:spPr>
          <p:txBody>
            <a:bodyPr anchor="ctr" rtlCol="false" tIns="50800" lIns="50800" bIns="50800" rIns="50800"/>
            <a:lstStyle/>
            <a:p>
              <a:pPr algn="ctr">
                <a:lnSpc>
                  <a:spcPts val="3467"/>
                </a:lnSpc>
              </a:pPr>
            </a:p>
          </p:txBody>
        </p:sp>
      </p:grpSp>
      <p:sp>
        <p:nvSpPr>
          <p:cNvPr name="AutoShape 41" id="41"/>
          <p:cNvSpPr/>
          <p:nvPr/>
        </p:nvSpPr>
        <p:spPr>
          <a:xfrm>
            <a:off x="8800197" y="6287593"/>
            <a:ext cx="0" cy="481025"/>
          </a:xfrm>
          <a:prstGeom prst="line">
            <a:avLst/>
          </a:prstGeom>
          <a:ln cap="flat" w="38100">
            <a:solidFill>
              <a:srgbClr val="FFFFFF"/>
            </a:solidFill>
            <a:prstDash val="solid"/>
            <a:headEnd type="none" len="sm" w="sm"/>
            <a:tailEnd type="none" len="sm" w="sm"/>
          </a:ln>
        </p:spPr>
      </p:sp>
      <p:sp>
        <p:nvSpPr>
          <p:cNvPr name="TextBox 42" id="42"/>
          <p:cNvSpPr txBox="true"/>
          <p:nvPr/>
        </p:nvSpPr>
        <p:spPr>
          <a:xfrm rot="0">
            <a:off x="7304561" y="6863868"/>
            <a:ext cx="2994292" cy="3069590"/>
          </a:xfrm>
          <a:prstGeom prst="rect">
            <a:avLst/>
          </a:prstGeom>
        </p:spPr>
        <p:txBody>
          <a:bodyPr anchor="t" rtlCol="false" tIns="0" lIns="0" bIns="0" rIns="0">
            <a:spAutoFit/>
          </a:bodyPr>
          <a:lstStyle/>
          <a:p>
            <a:pPr algn="l" marL="626112" indent="-313056" lvl="1">
              <a:lnSpc>
                <a:spcPts val="4060"/>
              </a:lnSpc>
              <a:buFont typeface="Arial"/>
              <a:buChar char="•"/>
            </a:pPr>
            <a:r>
              <a:rPr lang="en-US" sz="2900">
                <a:solidFill>
                  <a:srgbClr val="FFFFFF"/>
                </a:solidFill>
                <a:latin typeface="Canva Sans"/>
                <a:ea typeface="Canva Sans"/>
                <a:cs typeface="Canva Sans"/>
                <a:sym typeface="Canva Sans"/>
              </a:rPr>
              <a:t>Situation analyser</a:t>
            </a:r>
          </a:p>
          <a:p>
            <a:pPr algn="l">
              <a:lnSpc>
                <a:spcPts val="4060"/>
              </a:lnSpc>
            </a:pPr>
          </a:p>
          <a:p>
            <a:pPr algn="l" marL="626112" indent="-313056" lvl="1">
              <a:lnSpc>
                <a:spcPts val="4060"/>
              </a:lnSpc>
              <a:buFont typeface="Arial"/>
              <a:buChar char="•"/>
            </a:pPr>
            <a:r>
              <a:rPr lang="en-US" sz="2900">
                <a:solidFill>
                  <a:srgbClr val="FFFFFF"/>
                </a:solidFill>
                <a:latin typeface="Canva Sans"/>
                <a:ea typeface="Canva Sans"/>
                <a:cs typeface="Canva Sans"/>
                <a:sym typeface="Canva Sans"/>
              </a:rPr>
              <a:t>Realtime training for bias</a:t>
            </a:r>
          </a:p>
        </p:txBody>
      </p:sp>
      <p:sp>
        <p:nvSpPr>
          <p:cNvPr name="AutoShape 43" id="43"/>
          <p:cNvSpPr/>
          <p:nvPr/>
        </p:nvSpPr>
        <p:spPr>
          <a:xfrm>
            <a:off x="15584712" y="5131737"/>
            <a:ext cx="0" cy="481025"/>
          </a:xfrm>
          <a:prstGeom prst="line">
            <a:avLst/>
          </a:prstGeom>
          <a:ln cap="flat" w="38100">
            <a:solidFill>
              <a:srgbClr val="FFFFFF"/>
            </a:solidFill>
            <a:prstDash val="solid"/>
            <a:headEnd type="none" len="sm" w="sm"/>
            <a:tailEnd type="none" len="sm" w="sm"/>
          </a:ln>
        </p:spPr>
      </p:sp>
      <p:grpSp>
        <p:nvGrpSpPr>
          <p:cNvPr name="Group 44" id="44"/>
          <p:cNvGrpSpPr/>
          <p:nvPr/>
        </p:nvGrpSpPr>
        <p:grpSpPr>
          <a:xfrm rot="0">
            <a:off x="13618097" y="5588023"/>
            <a:ext cx="3857031" cy="699569"/>
            <a:chOff x="0" y="0"/>
            <a:chExt cx="1015843" cy="184249"/>
          </a:xfrm>
        </p:grpSpPr>
        <p:sp>
          <p:nvSpPr>
            <p:cNvPr name="Freeform 45" id="45"/>
            <p:cNvSpPr/>
            <p:nvPr/>
          </p:nvSpPr>
          <p:spPr>
            <a:xfrm flipH="false" flipV="false" rot="0">
              <a:off x="0" y="0"/>
              <a:ext cx="1015844" cy="184249"/>
            </a:xfrm>
            <a:custGeom>
              <a:avLst/>
              <a:gdLst/>
              <a:ahLst/>
              <a:cxnLst/>
              <a:rect r="r" b="b" t="t" l="l"/>
              <a:pathLst>
                <a:path h="184249" w="1015844">
                  <a:moveTo>
                    <a:pt x="92124" y="0"/>
                  </a:moveTo>
                  <a:lnTo>
                    <a:pt x="923719" y="0"/>
                  </a:lnTo>
                  <a:cubicBezTo>
                    <a:pt x="948152" y="0"/>
                    <a:pt x="971584" y="9706"/>
                    <a:pt x="988861" y="26983"/>
                  </a:cubicBezTo>
                  <a:cubicBezTo>
                    <a:pt x="1006138" y="44259"/>
                    <a:pt x="1015844" y="67691"/>
                    <a:pt x="1015844" y="92124"/>
                  </a:cubicBezTo>
                  <a:lnTo>
                    <a:pt x="1015844" y="92124"/>
                  </a:lnTo>
                  <a:cubicBezTo>
                    <a:pt x="1015844" y="143003"/>
                    <a:pt x="974598" y="184249"/>
                    <a:pt x="923719" y="184249"/>
                  </a:cubicBezTo>
                  <a:lnTo>
                    <a:pt x="92124" y="184249"/>
                  </a:lnTo>
                  <a:cubicBezTo>
                    <a:pt x="41245" y="184249"/>
                    <a:pt x="0" y="143003"/>
                    <a:pt x="0" y="92124"/>
                  </a:cubicBezTo>
                  <a:lnTo>
                    <a:pt x="0" y="92124"/>
                  </a:lnTo>
                  <a:cubicBezTo>
                    <a:pt x="0" y="41245"/>
                    <a:pt x="41245" y="0"/>
                    <a:pt x="92124" y="0"/>
                  </a:cubicBezTo>
                  <a:close/>
                </a:path>
              </a:pathLst>
            </a:custGeom>
            <a:solidFill>
              <a:srgbClr val="240960">
                <a:alpha val="42745"/>
              </a:srgbClr>
            </a:solidFill>
          </p:spPr>
        </p:sp>
        <p:sp>
          <p:nvSpPr>
            <p:cNvPr name="TextBox 46" id="46"/>
            <p:cNvSpPr txBox="true"/>
            <p:nvPr/>
          </p:nvSpPr>
          <p:spPr>
            <a:xfrm>
              <a:off x="0" y="-57150"/>
              <a:ext cx="1015843" cy="241399"/>
            </a:xfrm>
            <a:prstGeom prst="rect">
              <a:avLst/>
            </a:prstGeom>
          </p:spPr>
          <p:txBody>
            <a:bodyPr anchor="ctr" rtlCol="false" tIns="50800" lIns="50800" bIns="50800" rIns="50800"/>
            <a:lstStyle/>
            <a:p>
              <a:pPr algn="ctr">
                <a:lnSpc>
                  <a:spcPts val="3467"/>
                </a:lnSpc>
              </a:pPr>
            </a:p>
          </p:txBody>
        </p:sp>
      </p:grpSp>
      <p:sp>
        <p:nvSpPr>
          <p:cNvPr name="TextBox 47" id="47"/>
          <p:cNvSpPr txBox="true"/>
          <p:nvPr/>
        </p:nvSpPr>
        <p:spPr>
          <a:xfrm rot="0">
            <a:off x="14780792" y="5650862"/>
            <a:ext cx="1531640" cy="514350"/>
          </a:xfrm>
          <a:prstGeom prst="rect">
            <a:avLst/>
          </a:prstGeom>
        </p:spPr>
        <p:txBody>
          <a:bodyPr anchor="t" rtlCol="false" tIns="0" lIns="0" bIns="0" rIns="0">
            <a:spAutoFit/>
          </a:bodyPr>
          <a:lstStyle/>
          <a:p>
            <a:pPr algn="ctr">
              <a:lnSpc>
                <a:spcPts val="4200"/>
              </a:lnSpc>
            </a:pPr>
            <a:r>
              <a:rPr lang="en-US" sz="3000">
                <a:solidFill>
                  <a:srgbClr val="FFFFFF"/>
                </a:solidFill>
                <a:latin typeface="Montaser Arabic"/>
                <a:ea typeface="Montaser Arabic"/>
                <a:cs typeface="Montaser Arabic"/>
                <a:sym typeface="Montaser Arabic"/>
              </a:rPr>
              <a:t>Website</a:t>
            </a:r>
          </a:p>
        </p:txBody>
      </p:sp>
      <p:sp>
        <p:nvSpPr>
          <p:cNvPr name="TextBox 48" id="48"/>
          <p:cNvSpPr txBox="true"/>
          <p:nvPr/>
        </p:nvSpPr>
        <p:spPr>
          <a:xfrm rot="0">
            <a:off x="14087566" y="7068643"/>
            <a:ext cx="2994292" cy="2555240"/>
          </a:xfrm>
          <a:prstGeom prst="rect">
            <a:avLst/>
          </a:prstGeom>
        </p:spPr>
        <p:txBody>
          <a:bodyPr anchor="t" rtlCol="false" tIns="0" lIns="0" bIns="0" rIns="0">
            <a:spAutoFit/>
          </a:bodyPr>
          <a:lstStyle/>
          <a:p>
            <a:pPr algn="l" marL="626112" indent="-313056" lvl="1">
              <a:lnSpc>
                <a:spcPts val="4060"/>
              </a:lnSpc>
              <a:buFont typeface="Arial"/>
              <a:buChar char="•"/>
            </a:pPr>
            <a:r>
              <a:rPr lang="en-US" sz="2900">
                <a:solidFill>
                  <a:srgbClr val="FFFFFF"/>
                </a:solidFill>
                <a:latin typeface="Canva Sans"/>
                <a:ea typeface="Canva Sans"/>
                <a:cs typeface="Canva Sans"/>
                <a:sym typeface="Canva Sans"/>
              </a:rPr>
              <a:t>VR personal assistant</a:t>
            </a:r>
          </a:p>
          <a:p>
            <a:pPr algn="l">
              <a:lnSpc>
                <a:spcPts val="4060"/>
              </a:lnSpc>
            </a:pPr>
          </a:p>
          <a:p>
            <a:pPr algn="l" marL="626112" indent="-313056" lvl="1">
              <a:lnSpc>
                <a:spcPts val="4060"/>
              </a:lnSpc>
              <a:buFont typeface="Arial"/>
              <a:buChar char="•"/>
            </a:pPr>
            <a:r>
              <a:rPr lang="en-US" sz="2900">
                <a:solidFill>
                  <a:srgbClr val="FFFFFF"/>
                </a:solidFill>
                <a:latin typeface="Canva Sans"/>
                <a:ea typeface="Canva Sans"/>
                <a:cs typeface="Canva Sans"/>
                <a:sym typeface="Canva Sans"/>
              </a:rPr>
              <a:t>Record maintanance</a:t>
            </a:r>
          </a:p>
        </p:txBody>
      </p:sp>
      <p:sp>
        <p:nvSpPr>
          <p:cNvPr name="AutoShape 49" id="49"/>
          <p:cNvSpPr/>
          <p:nvPr/>
        </p:nvSpPr>
        <p:spPr>
          <a:xfrm>
            <a:off x="15584712" y="6360450"/>
            <a:ext cx="0" cy="481025"/>
          </a:xfrm>
          <a:prstGeom prst="line">
            <a:avLst/>
          </a:prstGeom>
          <a:ln cap="flat" w="38100">
            <a:solidFill>
              <a:srgbClr val="FFFFFF"/>
            </a:solidFill>
            <a:prstDash val="solid"/>
            <a:headEnd type="none" len="sm" w="sm"/>
            <a:tailEnd type="none" len="sm" w="sm"/>
          </a:ln>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666" r="0" b="-16666"/>
            </a:stretch>
          </a:blipFill>
        </p:spPr>
      </p:sp>
      <p:sp>
        <p:nvSpPr>
          <p:cNvPr name="Freeform 3" id="3"/>
          <p:cNvSpPr/>
          <p:nvPr/>
        </p:nvSpPr>
        <p:spPr>
          <a:xfrm flipH="false" flipV="false" rot="0">
            <a:off x="12505577" y="457039"/>
            <a:ext cx="6697379" cy="9372922"/>
          </a:xfrm>
          <a:custGeom>
            <a:avLst/>
            <a:gdLst/>
            <a:ahLst/>
            <a:cxnLst/>
            <a:rect r="r" b="b" t="t" l="l"/>
            <a:pathLst>
              <a:path h="9372922" w="6697379">
                <a:moveTo>
                  <a:pt x="0" y="0"/>
                </a:moveTo>
                <a:lnTo>
                  <a:pt x="6697380" y="0"/>
                </a:lnTo>
                <a:lnTo>
                  <a:pt x="6697380" y="9372922"/>
                </a:lnTo>
                <a:lnTo>
                  <a:pt x="0" y="937292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3394786" y="1710214"/>
            <a:ext cx="4918963" cy="6866572"/>
          </a:xfrm>
          <a:custGeom>
            <a:avLst/>
            <a:gdLst/>
            <a:ahLst/>
            <a:cxnLst/>
            <a:rect r="r" b="b" t="t" l="l"/>
            <a:pathLst>
              <a:path h="6866572" w="4918963">
                <a:moveTo>
                  <a:pt x="0" y="0"/>
                </a:moveTo>
                <a:lnTo>
                  <a:pt x="4918962" y="0"/>
                </a:lnTo>
                <a:lnTo>
                  <a:pt x="4918962" y="6866572"/>
                </a:lnTo>
                <a:lnTo>
                  <a:pt x="0" y="686657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5" id="5"/>
          <p:cNvSpPr txBox="true"/>
          <p:nvPr/>
        </p:nvSpPr>
        <p:spPr>
          <a:xfrm rot="0">
            <a:off x="750286" y="536398"/>
            <a:ext cx="12644500" cy="3098149"/>
          </a:xfrm>
          <a:prstGeom prst="rect">
            <a:avLst/>
          </a:prstGeom>
        </p:spPr>
        <p:txBody>
          <a:bodyPr anchor="t" rtlCol="false" tIns="0" lIns="0" bIns="0" rIns="0">
            <a:spAutoFit/>
          </a:bodyPr>
          <a:lstStyle/>
          <a:p>
            <a:pPr algn="l">
              <a:lnSpc>
                <a:spcPts val="12460"/>
              </a:lnSpc>
              <a:spcBef>
                <a:spcPct val="0"/>
              </a:spcBef>
            </a:pPr>
            <a:r>
              <a:rPr lang="en-US" sz="8900">
                <a:solidFill>
                  <a:srgbClr val="FFFFFF"/>
                </a:solidFill>
                <a:latin typeface="Anton"/>
                <a:ea typeface="Anton"/>
                <a:cs typeface="Anton"/>
                <a:sym typeface="Anton"/>
              </a:rPr>
              <a:t>MOOD ANALYSER USING GOOGLE API</a:t>
            </a:r>
          </a:p>
        </p:txBody>
      </p:sp>
      <p:sp>
        <p:nvSpPr>
          <p:cNvPr name="TextBox 6" id="6"/>
          <p:cNvSpPr txBox="true"/>
          <p:nvPr/>
        </p:nvSpPr>
        <p:spPr>
          <a:xfrm rot="0">
            <a:off x="413833" y="9153525"/>
            <a:ext cx="1229733" cy="895978"/>
          </a:xfrm>
          <a:prstGeom prst="rect">
            <a:avLst/>
          </a:prstGeom>
        </p:spPr>
        <p:txBody>
          <a:bodyPr anchor="t" rtlCol="false" tIns="0" lIns="0" bIns="0" rIns="0">
            <a:spAutoFit/>
          </a:bodyPr>
          <a:lstStyle/>
          <a:p>
            <a:pPr algn="ctr">
              <a:lnSpc>
                <a:spcPts val="7279"/>
              </a:lnSpc>
              <a:spcBef>
                <a:spcPct val="0"/>
              </a:spcBef>
            </a:pPr>
            <a:r>
              <a:rPr lang="en-US" sz="5199">
                <a:solidFill>
                  <a:srgbClr val="FFFFFF"/>
                </a:solidFill>
                <a:latin typeface="RQND Pro"/>
                <a:ea typeface="RQND Pro"/>
                <a:cs typeface="RQND Pro"/>
                <a:sym typeface="RQND Pro"/>
              </a:rPr>
              <a:t>08</a:t>
            </a:r>
          </a:p>
        </p:txBody>
      </p:sp>
      <p:sp>
        <p:nvSpPr>
          <p:cNvPr name="TextBox 7" id="7"/>
          <p:cNvSpPr txBox="true"/>
          <p:nvPr/>
        </p:nvSpPr>
        <p:spPr>
          <a:xfrm rot="0">
            <a:off x="750286" y="3937646"/>
            <a:ext cx="10386231" cy="4672411"/>
          </a:xfrm>
          <a:prstGeom prst="rect">
            <a:avLst/>
          </a:prstGeom>
        </p:spPr>
        <p:txBody>
          <a:bodyPr anchor="t" rtlCol="false" tIns="0" lIns="0" bIns="0" rIns="0">
            <a:spAutoFit/>
          </a:bodyPr>
          <a:lstStyle/>
          <a:p>
            <a:pPr algn="just">
              <a:lnSpc>
                <a:spcPts val="4674"/>
              </a:lnSpc>
            </a:pPr>
            <a:r>
              <a:rPr lang="en-US" sz="2554">
                <a:solidFill>
                  <a:srgbClr val="FFFFFF"/>
                </a:solidFill>
                <a:latin typeface="Montaser Arabic"/>
                <a:ea typeface="Montaser Arabic"/>
                <a:cs typeface="Montaser Arabic"/>
                <a:sym typeface="Montaser Arabic"/>
              </a:rPr>
              <a:t>Our project uses a mood analysis tool that leverages Google’s  Image processing API to detect emotions from visual input. By analyzing facial expressions, the system identifies whether the mood expressed is positive, negative, or neutral. The results are displayed in real time, providing users with clear feedback on emotional patterns. This tool can be applied in workplace settings to enhance self-awareness, communication, and emotional intelligence.</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666" r="0" b="-16666"/>
            </a:stretch>
          </a:blipFill>
        </p:spPr>
      </p:sp>
      <p:sp>
        <p:nvSpPr>
          <p:cNvPr name="TextBox 3" id="3"/>
          <p:cNvSpPr txBox="true"/>
          <p:nvPr/>
        </p:nvSpPr>
        <p:spPr>
          <a:xfrm rot="0">
            <a:off x="16388820" y="8757924"/>
            <a:ext cx="1229733" cy="895978"/>
          </a:xfrm>
          <a:prstGeom prst="rect">
            <a:avLst/>
          </a:prstGeom>
        </p:spPr>
        <p:txBody>
          <a:bodyPr anchor="t" rtlCol="false" tIns="0" lIns="0" bIns="0" rIns="0">
            <a:spAutoFit/>
          </a:bodyPr>
          <a:lstStyle/>
          <a:p>
            <a:pPr algn="ctr">
              <a:lnSpc>
                <a:spcPts val="7279"/>
              </a:lnSpc>
              <a:spcBef>
                <a:spcPct val="0"/>
              </a:spcBef>
            </a:pPr>
            <a:r>
              <a:rPr lang="en-US" sz="5199">
                <a:solidFill>
                  <a:srgbClr val="FFFFFF"/>
                </a:solidFill>
                <a:latin typeface="RQND Pro"/>
                <a:ea typeface="RQND Pro"/>
                <a:cs typeface="RQND Pro"/>
                <a:sym typeface="RQND Pro"/>
              </a:rPr>
              <a:t>09</a:t>
            </a:r>
          </a:p>
        </p:txBody>
      </p:sp>
      <p:sp>
        <p:nvSpPr>
          <p:cNvPr name="TextBox 4" id="4"/>
          <p:cNvSpPr txBox="true"/>
          <p:nvPr/>
        </p:nvSpPr>
        <p:spPr>
          <a:xfrm rot="0">
            <a:off x="2456536" y="497413"/>
            <a:ext cx="13739461" cy="3155426"/>
          </a:xfrm>
          <a:prstGeom prst="rect">
            <a:avLst/>
          </a:prstGeom>
        </p:spPr>
        <p:txBody>
          <a:bodyPr anchor="t" rtlCol="false" tIns="0" lIns="0" bIns="0" rIns="0">
            <a:spAutoFit/>
          </a:bodyPr>
          <a:lstStyle/>
          <a:p>
            <a:pPr algn="l">
              <a:lnSpc>
                <a:spcPts val="12451"/>
              </a:lnSpc>
            </a:pPr>
            <a:r>
              <a:rPr lang="en-US" sz="10206">
                <a:solidFill>
                  <a:srgbClr val="FFFFFF"/>
                </a:solidFill>
                <a:latin typeface="Anton"/>
                <a:ea typeface="Anton"/>
                <a:cs typeface="Anton"/>
                <a:sym typeface="Anton"/>
              </a:rPr>
              <a:t>REALTIME ANALYSER USING AI-ML MODELS</a:t>
            </a:r>
          </a:p>
        </p:txBody>
      </p:sp>
      <p:sp>
        <p:nvSpPr>
          <p:cNvPr name="TextBox 5" id="5"/>
          <p:cNvSpPr txBox="true"/>
          <p:nvPr/>
        </p:nvSpPr>
        <p:spPr>
          <a:xfrm rot="0">
            <a:off x="2584343" y="3976818"/>
            <a:ext cx="13483848" cy="5281482"/>
          </a:xfrm>
          <a:prstGeom prst="rect">
            <a:avLst/>
          </a:prstGeom>
        </p:spPr>
        <p:txBody>
          <a:bodyPr anchor="t" rtlCol="false" tIns="0" lIns="0" bIns="0" rIns="0">
            <a:spAutoFit/>
          </a:bodyPr>
          <a:lstStyle/>
          <a:p>
            <a:pPr algn="just">
              <a:lnSpc>
                <a:spcPts val="4720"/>
              </a:lnSpc>
            </a:pPr>
            <a:r>
              <a:rPr lang="en-US" sz="2777">
                <a:solidFill>
                  <a:srgbClr val="FFFFFF"/>
                </a:solidFill>
                <a:latin typeface="Montaser Arabic"/>
                <a:ea typeface="Montaser Arabic"/>
                <a:cs typeface="Montaser Arabic"/>
                <a:sym typeface="Montaser Arabic"/>
              </a:rPr>
              <a:t>The real-time analyzer is built using an AI/ML pipeline that combines speech-to-text transcription, NLP-based sentiment and interruption detection, and facial expression analysis. The system captures live audio and video through the FairSight device (camera + mic + Arduino interface), processes it with ML models trained on workplace interaction datasets, and runs behavioral analysis in real time. The website dashboard visualizes mood analysis, interaction scores, and memo reviews. Together, this creates a seamless feedback loop that transforms raw interactions into insights for inclusive growth.</a:t>
            </a:r>
          </a:p>
        </p:txBody>
      </p:sp>
      <p:sp>
        <p:nvSpPr>
          <p:cNvPr name="Freeform 6" id="6"/>
          <p:cNvSpPr/>
          <p:nvPr/>
        </p:nvSpPr>
        <p:spPr>
          <a:xfrm flipH="false" flipV="false" rot="0">
            <a:off x="3880901" y="1640144"/>
            <a:ext cx="2961265" cy="2907424"/>
          </a:xfrm>
          <a:custGeom>
            <a:avLst/>
            <a:gdLst/>
            <a:ahLst/>
            <a:cxnLst/>
            <a:rect r="r" b="b" t="t" l="l"/>
            <a:pathLst>
              <a:path h="2907424" w="2961265">
                <a:moveTo>
                  <a:pt x="0" y="0"/>
                </a:moveTo>
                <a:lnTo>
                  <a:pt x="2961265" y="0"/>
                </a:lnTo>
                <a:lnTo>
                  <a:pt x="2961265" y="2907423"/>
                </a:lnTo>
                <a:lnTo>
                  <a:pt x="0" y="2907423"/>
                </a:lnTo>
                <a:lnTo>
                  <a:pt x="0" y="0"/>
                </a:lnTo>
                <a:close/>
              </a:path>
            </a:pathLst>
          </a:custGeom>
          <a:blipFill>
            <a:blip r:embed="rId3">
              <a:alphaModFix amt="6999"/>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666" r="0" b="-16666"/>
            </a:stretch>
          </a:blipFill>
        </p:spPr>
      </p:sp>
      <p:sp>
        <p:nvSpPr>
          <p:cNvPr name="Freeform 3" id="3"/>
          <p:cNvSpPr/>
          <p:nvPr/>
        </p:nvSpPr>
        <p:spPr>
          <a:xfrm flipH="false" flipV="false" rot="0">
            <a:off x="-4019593" y="3093855"/>
            <a:ext cx="6554005" cy="5696027"/>
          </a:xfrm>
          <a:custGeom>
            <a:avLst/>
            <a:gdLst/>
            <a:ahLst/>
            <a:cxnLst/>
            <a:rect r="r" b="b" t="t" l="l"/>
            <a:pathLst>
              <a:path h="5696027" w="6554005">
                <a:moveTo>
                  <a:pt x="0" y="0"/>
                </a:moveTo>
                <a:lnTo>
                  <a:pt x="6554005" y="0"/>
                </a:lnTo>
                <a:lnTo>
                  <a:pt x="6554005" y="5696027"/>
                </a:lnTo>
                <a:lnTo>
                  <a:pt x="0" y="569602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6388820" y="8757924"/>
            <a:ext cx="1229733" cy="895978"/>
          </a:xfrm>
          <a:prstGeom prst="rect">
            <a:avLst/>
          </a:prstGeom>
        </p:spPr>
        <p:txBody>
          <a:bodyPr anchor="t" rtlCol="false" tIns="0" lIns="0" bIns="0" rIns="0">
            <a:spAutoFit/>
          </a:bodyPr>
          <a:lstStyle/>
          <a:p>
            <a:pPr algn="ctr">
              <a:lnSpc>
                <a:spcPts val="7279"/>
              </a:lnSpc>
              <a:spcBef>
                <a:spcPct val="0"/>
              </a:spcBef>
            </a:pPr>
            <a:r>
              <a:rPr lang="en-US" sz="5199">
                <a:solidFill>
                  <a:srgbClr val="FFFFFF"/>
                </a:solidFill>
                <a:latin typeface="RQND Pro"/>
                <a:ea typeface="RQND Pro"/>
                <a:cs typeface="RQND Pro"/>
                <a:sym typeface="RQND Pro"/>
              </a:rPr>
              <a:t>10</a:t>
            </a:r>
          </a:p>
        </p:txBody>
      </p:sp>
      <p:sp>
        <p:nvSpPr>
          <p:cNvPr name="TextBox 5" id="5"/>
          <p:cNvSpPr txBox="true"/>
          <p:nvPr/>
        </p:nvSpPr>
        <p:spPr>
          <a:xfrm rot="0">
            <a:off x="3519839" y="472130"/>
            <a:ext cx="13739461" cy="1574276"/>
          </a:xfrm>
          <a:prstGeom prst="rect">
            <a:avLst/>
          </a:prstGeom>
        </p:spPr>
        <p:txBody>
          <a:bodyPr anchor="t" rtlCol="false" tIns="0" lIns="0" bIns="0" rIns="0">
            <a:spAutoFit/>
          </a:bodyPr>
          <a:lstStyle/>
          <a:p>
            <a:pPr algn="l">
              <a:lnSpc>
                <a:spcPts val="12451"/>
              </a:lnSpc>
            </a:pPr>
            <a:r>
              <a:rPr lang="en-US" sz="10206">
                <a:solidFill>
                  <a:srgbClr val="FFFFFF"/>
                </a:solidFill>
                <a:latin typeface="Anton"/>
                <a:ea typeface="Anton"/>
                <a:cs typeface="Anton"/>
                <a:sym typeface="Anton"/>
              </a:rPr>
              <a:t>SELF-HELP AND QUERY DESK</a:t>
            </a:r>
          </a:p>
        </p:txBody>
      </p:sp>
      <p:sp>
        <p:nvSpPr>
          <p:cNvPr name="TextBox 6" id="6"/>
          <p:cNvSpPr txBox="true"/>
          <p:nvPr/>
        </p:nvSpPr>
        <p:spPr>
          <a:xfrm rot="0">
            <a:off x="3519839" y="2750265"/>
            <a:ext cx="13483848" cy="6249857"/>
          </a:xfrm>
          <a:prstGeom prst="rect">
            <a:avLst/>
          </a:prstGeom>
        </p:spPr>
        <p:txBody>
          <a:bodyPr anchor="t" rtlCol="false" tIns="0" lIns="0" bIns="0" rIns="0">
            <a:spAutoFit/>
          </a:bodyPr>
          <a:lstStyle/>
          <a:p>
            <a:pPr algn="just">
              <a:lnSpc>
                <a:spcPts val="4550"/>
              </a:lnSpc>
            </a:pPr>
            <a:r>
              <a:rPr lang="en-US" sz="2677">
                <a:solidFill>
                  <a:srgbClr val="FFFFFF"/>
                </a:solidFill>
                <a:latin typeface="Montaser Arabic"/>
                <a:ea typeface="Montaser Arabic"/>
                <a:cs typeface="Montaser Arabic"/>
                <a:sym typeface="Montaser Arabic"/>
              </a:rPr>
              <a:t>We created a self-help and query desk system powered by NLP and machine learning models, with Pandas handling data processing and analytics. The platform allows employees to ask workplace-related questions in natural language, and the system provides instant, context-aware answers. It also analyzes past queries and feedback to continuously improve its responses and suggest relevant resources.</a:t>
            </a:r>
          </a:p>
          <a:p>
            <a:pPr algn="just">
              <a:lnSpc>
                <a:spcPts val="4550"/>
              </a:lnSpc>
            </a:pPr>
            <a:r>
              <a:rPr lang="en-US" sz="2677">
                <a:solidFill>
                  <a:srgbClr val="FFFFFF"/>
                </a:solidFill>
                <a:latin typeface="Montaser Arabic"/>
                <a:ea typeface="Montaser Arabic"/>
                <a:cs typeface="Montaser Arabic"/>
                <a:sym typeface="Montaser Arabic"/>
              </a:rPr>
              <a:t>By combining NLP for intent detection, ML models for prediction and personalization, and Pandas for insights from employee data, the solution works like an intelligent virtual HR assistant—reducing response times, improving accessibility, and empowering employees with self-help tools.</a:t>
            </a:r>
          </a:p>
          <a:p>
            <a:pPr algn="just">
              <a:lnSpc>
                <a:spcPts val="4550"/>
              </a:lnSpc>
            </a:pPr>
          </a:p>
        </p:txBody>
      </p:sp>
      <p:sp>
        <p:nvSpPr>
          <p:cNvPr name="Freeform 7" id="7"/>
          <p:cNvSpPr/>
          <p:nvPr/>
        </p:nvSpPr>
        <p:spPr>
          <a:xfrm flipH="false" flipV="false" rot="0">
            <a:off x="3880901" y="1640144"/>
            <a:ext cx="2961265" cy="2907424"/>
          </a:xfrm>
          <a:custGeom>
            <a:avLst/>
            <a:gdLst/>
            <a:ahLst/>
            <a:cxnLst/>
            <a:rect r="r" b="b" t="t" l="l"/>
            <a:pathLst>
              <a:path h="2907424" w="2961265">
                <a:moveTo>
                  <a:pt x="0" y="0"/>
                </a:moveTo>
                <a:lnTo>
                  <a:pt x="2961265" y="0"/>
                </a:lnTo>
                <a:lnTo>
                  <a:pt x="2961265" y="2907423"/>
                </a:lnTo>
                <a:lnTo>
                  <a:pt x="0" y="2907423"/>
                </a:lnTo>
                <a:lnTo>
                  <a:pt x="0" y="0"/>
                </a:lnTo>
                <a:close/>
              </a:path>
            </a:pathLst>
          </a:custGeom>
          <a:blipFill>
            <a:blip r:embed="rId5">
              <a:alphaModFix amt="6999"/>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666" r="0" b="-16666"/>
            </a:stretch>
          </a:blipFill>
        </p:spPr>
      </p:sp>
      <p:sp>
        <p:nvSpPr>
          <p:cNvPr name="Freeform 3" id="3"/>
          <p:cNvSpPr/>
          <p:nvPr/>
        </p:nvSpPr>
        <p:spPr>
          <a:xfrm flipH="false" flipV="false" rot="0">
            <a:off x="-4019593" y="3093855"/>
            <a:ext cx="6554005" cy="5696027"/>
          </a:xfrm>
          <a:custGeom>
            <a:avLst/>
            <a:gdLst/>
            <a:ahLst/>
            <a:cxnLst/>
            <a:rect r="r" b="b" t="t" l="l"/>
            <a:pathLst>
              <a:path h="5696027" w="6554005">
                <a:moveTo>
                  <a:pt x="0" y="0"/>
                </a:moveTo>
                <a:lnTo>
                  <a:pt x="6554005" y="0"/>
                </a:lnTo>
                <a:lnTo>
                  <a:pt x="6554005" y="5696027"/>
                </a:lnTo>
                <a:lnTo>
                  <a:pt x="0" y="569602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6388820" y="8757924"/>
            <a:ext cx="1229733" cy="895978"/>
          </a:xfrm>
          <a:prstGeom prst="rect">
            <a:avLst/>
          </a:prstGeom>
        </p:spPr>
        <p:txBody>
          <a:bodyPr anchor="t" rtlCol="false" tIns="0" lIns="0" bIns="0" rIns="0">
            <a:spAutoFit/>
          </a:bodyPr>
          <a:lstStyle/>
          <a:p>
            <a:pPr algn="ctr">
              <a:lnSpc>
                <a:spcPts val="7279"/>
              </a:lnSpc>
              <a:spcBef>
                <a:spcPct val="0"/>
              </a:spcBef>
            </a:pPr>
            <a:r>
              <a:rPr lang="en-US" sz="5199">
                <a:solidFill>
                  <a:srgbClr val="FFFFFF"/>
                </a:solidFill>
                <a:latin typeface="RQND Pro"/>
                <a:ea typeface="RQND Pro"/>
                <a:cs typeface="RQND Pro"/>
                <a:sym typeface="RQND Pro"/>
              </a:rPr>
              <a:t>11</a:t>
            </a:r>
          </a:p>
        </p:txBody>
      </p:sp>
      <p:sp>
        <p:nvSpPr>
          <p:cNvPr name="TextBox 5" id="5"/>
          <p:cNvSpPr txBox="true"/>
          <p:nvPr/>
        </p:nvSpPr>
        <p:spPr>
          <a:xfrm rot="0">
            <a:off x="3519839" y="472130"/>
            <a:ext cx="13739461" cy="1574276"/>
          </a:xfrm>
          <a:prstGeom prst="rect">
            <a:avLst/>
          </a:prstGeom>
        </p:spPr>
        <p:txBody>
          <a:bodyPr anchor="t" rtlCol="false" tIns="0" lIns="0" bIns="0" rIns="0">
            <a:spAutoFit/>
          </a:bodyPr>
          <a:lstStyle/>
          <a:p>
            <a:pPr algn="ctr">
              <a:lnSpc>
                <a:spcPts val="12451"/>
              </a:lnSpc>
            </a:pPr>
            <a:r>
              <a:rPr lang="en-US" sz="10206">
                <a:solidFill>
                  <a:srgbClr val="FFFFFF"/>
                </a:solidFill>
                <a:latin typeface="Anton"/>
                <a:ea typeface="Anton"/>
                <a:cs typeface="Anton"/>
                <a:sym typeface="Anton"/>
              </a:rPr>
              <a:t>FAIRSIGHT</a:t>
            </a:r>
          </a:p>
        </p:txBody>
      </p:sp>
      <p:sp>
        <p:nvSpPr>
          <p:cNvPr name="TextBox 6" id="6"/>
          <p:cNvSpPr txBox="true"/>
          <p:nvPr/>
        </p:nvSpPr>
        <p:spPr>
          <a:xfrm rot="0">
            <a:off x="3519839" y="2740740"/>
            <a:ext cx="13483848" cy="6335582"/>
          </a:xfrm>
          <a:prstGeom prst="rect">
            <a:avLst/>
          </a:prstGeom>
        </p:spPr>
        <p:txBody>
          <a:bodyPr anchor="t" rtlCol="false" tIns="0" lIns="0" bIns="0" rIns="0">
            <a:spAutoFit/>
          </a:bodyPr>
          <a:lstStyle/>
          <a:p>
            <a:pPr algn="just">
              <a:lnSpc>
                <a:spcPts val="5060"/>
              </a:lnSpc>
            </a:pPr>
            <a:r>
              <a:rPr lang="en-US" sz="2977">
                <a:solidFill>
                  <a:srgbClr val="FFFFFF"/>
                </a:solidFill>
                <a:latin typeface="Montaser Arabic"/>
                <a:ea typeface="Montaser Arabic"/>
                <a:cs typeface="Montaser Arabic"/>
                <a:sym typeface="Montaser Arabic"/>
              </a:rPr>
              <a:t>FairSight is a smart in-house device designed to capture and analyze workplace interactions in real time. Built with an integrated camera and microphone, Arduino as the mediator, ESP-32WIFI as the transcriber and model hoster, it records conversations and passes the data to AI/ML models for transcription, sentiment analysis, and bias detection. By linking with Unity + XR, FairSight enables employees to replay situations for deeper reflection, while the connected web dashboard offers mood analysis, interaction history, and progress tracking. It acts as a bridge between raw human interaction and meaningful, bias-aware feedback.</a:t>
            </a:r>
          </a:p>
        </p:txBody>
      </p:sp>
      <p:sp>
        <p:nvSpPr>
          <p:cNvPr name="Freeform 7" id="7"/>
          <p:cNvSpPr/>
          <p:nvPr/>
        </p:nvSpPr>
        <p:spPr>
          <a:xfrm flipH="false" flipV="false" rot="0">
            <a:off x="3880901" y="1640144"/>
            <a:ext cx="2961265" cy="2907424"/>
          </a:xfrm>
          <a:custGeom>
            <a:avLst/>
            <a:gdLst/>
            <a:ahLst/>
            <a:cxnLst/>
            <a:rect r="r" b="b" t="t" l="l"/>
            <a:pathLst>
              <a:path h="2907424" w="2961265">
                <a:moveTo>
                  <a:pt x="0" y="0"/>
                </a:moveTo>
                <a:lnTo>
                  <a:pt x="2961265" y="0"/>
                </a:lnTo>
                <a:lnTo>
                  <a:pt x="2961265" y="2907423"/>
                </a:lnTo>
                <a:lnTo>
                  <a:pt x="0" y="2907423"/>
                </a:lnTo>
                <a:lnTo>
                  <a:pt x="0" y="0"/>
                </a:lnTo>
                <a:close/>
              </a:path>
            </a:pathLst>
          </a:custGeom>
          <a:blipFill>
            <a:blip r:embed="rId5">
              <a:alphaModFix amt="6999"/>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50844"/>
        </a:solidFill>
      </p:bgPr>
    </p:bg>
    <p:spTree>
      <p:nvGrpSpPr>
        <p:cNvPr id="1" name=""/>
        <p:cNvGrpSpPr/>
        <p:nvPr/>
      </p:nvGrpSpPr>
      <p:grpSpPr>
        <a:xfrm>
          <a:off x="0" y="0"/>
          <a:ext cx="0" cy="0"/>
          <a:chOff x="0" y="0"/>
          <a:chExt cx="0" cy="0"/>
        </a:xfrm>
      </p:grpSpPr>
      <p:sp>
        <p:nvSpPr>
          <p:cNvPr name="Freeform 2" id="2"/>
          <p:cNvSpPr/>
          <p:nvPr/>
        </p:nvSpPr>
        <p:spPr>
          <a:xfrm flipH="false" flipV="false" rot="0">
            <a:off x="736013" y="2272638"/>
            <a:ext cx="7359879" cy="6985662"/>
          </a:xfrm>
          <a:custGeom>
            <a:avLst/>
            <a:gdLst/>
            <a:ahLst/>
            <a:cxnLst/>
            <a:rect r="r" b="b" t="t" l="l"/>
            <a:pathLst>
              <a:path h="6985662" w="7359879">
                <a:moveTo>
                  <a:pt x="0" y="0"/>
                </a:moveTo>
                <a:lnTo>
                  <a:pt x="7359879" y="0"/>
                </a:lnTo>
                <a:lnTo>
                  <a:pt x="7359879" y="6985662"/>
                </a:lnTo>
                <a:lnTo>
                  <a:pt x="0" y="6985662"/>
                </a:lnTo>
                <a:lnTo>
                  <a:pt x="0" y="0"/>
                </a:lnTo>
                <a:close/>
              </a:path>
            </a:pathLst>
          </a:custGeom>
          <a:blipFill>
            <a:blip r:embed="rId2"/>
            <a:stretch>
              <a:fillRect l="0" t="-3981" r="0" b="-1375"/>
            </a:stretch>
          </a:blipFill>
        </p:spPr>
      </p:sp>
      <p:sp>
        <p:nvSpPr>
          <p:cNvPr name="Freeform 3" id="3"/>
          <p:cNvSpPr/>
          <p:nvPr/>
        </p:nvSpPr>
        <p:spPr>
          <a:xfrm flipH="false" flipV="false" rot="0">
            <a:off x="9144000" y="2272638"/>
            <a:ext cx="8277051" cy="6985662"/>
          </a:xfrm>
          <a:custGeom>
            <a:avLst/>
            <a:gdLst/>
            <a:ahLst/>
            <a:cxnLst/>
            <a:rect r="r" b="b" t="t" l="l"/>
            <a:pathLst>
              <a:path h="6985662" w="8277051">
                <a:moveTo>
                  <a:pt x="0" y="0"/>
                </a:moveTo>
                <a:lnTo>
                  <a:pt x="8277051" y="0"/>
                </a:lnTo>
                <a:lnTo>
                  <a:pt x="8277051" y="6985662"/>
                </a:lnTo>
                <a:lnTo>
                  <a:pt x="0" y="6985662"/>
                </a:lnTo>
                <a:lnTo>
                  <a:pt x="0" y="0"/>
                </a:lnTo>
                <a:close/>
              </a:path>
            </a:pathLst>
          </a:custGeom>
          <a:blipFill>
            <a:blip r:embed="rId3"/>
            <a:stretch>
              <a:fillRect l="-1292" t="0" r="-1292" b="0"/>
            </a:stretch>
          </a:blipFill>
        </p:spPr>
      </p:sp>
      <p:sp>
        <p:nvSpPr>
          <p:cNvPr name="TextBox 4" id="4"/>
          <p:cNvSpPr txBox="true"/>
          <p:nvPr/>
        </p:nvSpPr>
        <p:spPr>
          <a:xfrm rot="0">
            <a:off x="3201094" y="387154"/>
            <a:ext cx="11885812" cy="1516999"/>
          </a:xfrm>
          <a:prstGeom prst="rect">
            <a:avLst/>
          </a:prstGeom>
        </p:spPr>
        <p:txBody>
          <a:bodyPr anchor="t" rtlCol="false" tIns="0" lIns="0" bIns="0" rIns="0">
            <a:spAutoFit/>
          </a:bodyPr>
          <a:lstStyle/>
          <a:p>
            <a:pPr algn="ctr">
              <a:lnSpc>
                <a:spcPts val="12460"/>
              </a:lnSpc>
              <a:spcBef>
                <a:spcPct val="0"/>
              </a:spcBef>
            </a:pPr>
            <a:r>
              <a:rPr lang="en-US" sz="8900">
                <a:solidFill>
                  <a:srgbClr val="FFFFFF"/>
                </a:solidFill>
                <a:latin typeface="Anton"/>
                <a:ea typeface="Anton"/>
                <a:cs typeface="Anton"/>
                <a:sym typeface="Anton"/>
              </a:rPr>
              <a:t>DESIGN CONCEPTS- FairSight</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50844"/>
        </a:solidFill>
      </p:bgPr>
    </p:bg>
    <p:spTree>
      <p:nvGrpSpPr>
        <p:cNvPr id="1" name=""/>
        <p:cNvGrpSpPr/>
        <p:nvPr/>
      </p:nvGrpSpPr>
      <p:grpSpPr>
        <a:xfrm>
          <a:off x="0" y="0"/>
          <a:ext cx="0" cy="0"/>
          <a:chOff x="0" y="0"/>
          <a:chExt cx="0" cy="0"/>
        </a:xfrm>
      </p:grpSpPr>
      <p:sp>
        <p:nvSpPr>
          <p:cNvPr name="Freeform 2" id="2"/>
          <p:cNvSpPr/>
          <p:nvPr/>
        </p:nvSpPr>
        <p:spPr>
          <a:xfrm flipH="false" flipV="false" rot="0">
            <a:off x="439382" y="2415177"/>
            <a:ext cx="8704618" cy="5832094"/>
          </a:xfrm>
          <a:custGeom>
            <a:avLst/>
            <a:gdLst/>
            <a:ahLst/>
            <a:cxnLst/>
            <a:rect r="r" b="b" t="t" l="l"/>
            <a:pathLst>
              <a:path h="5832094" w="8704618">
                <a:moveTo>
                  <a:pt x="0" y="0"/>
                </a:moveTo>
                <a:lnTo>
                  <a:pt x="8704618" y="0"/>
                </a:lnTo>
                <a:lnTo>
                  <a:pt x="8704618" y="5832094"/>
                </a:lnTo>
                <a:lnTo>
                  <a:pt x="0" y="5832094"/>
                </a:lnTo>
                <a:lnTo>
                  <a:pt x="0" y="0"/>
                </a:lnTo>
                <a:close/>
              </a:path>
            </a:pathLst>
          </a:custGeom>
          <a:blipFill>
            <a:blip r:embed="rId2"/>
            <a:stretch>
              <a:fillRect l="0" t="0" r="0" b="0"/>
            </a:stretch>
          </a:blipFill>
        </p:spPr>
      </p:sp>
      <p:sp>
        <p:nvSpPr>
          <p:cNvPr name="TextBox 3" id="3"/>
          <p:cNvSpPr txBox="true"/>
          <p:nvPr/>
        </p:nvSpPr>
        <p:spPr>
          <a:xfrm rot="0">
            <a:off x="3668464" y="396679"/>
            <a:ext cx="10951071" cy="1401425"/>
          </a:xfrm>
          <a:prstGeom prst="rect">
            <a:avLst/>
          </a:prstGeom>
        </p:spPr>
        <p:txBody>
          <a:bodyPr anchor="t" rtlCol="false" tIns="0" lIns="0" bIns="0" rIns="0">
            <a:spAutoFit/>
          </a:bodyPr>
          <a:lstStyle/>
          <a:p>
            <a:pPr algn="ctr">
              <a:lnSpc>
                <a:spcPts val="11481"/>
              </a:lnSpc>
              <a:spcBef>
                <a:spcPct val="0"/>
              </a:spcBef>
            </a:pPr>
            <a:r>
              <a:rPr lang="en-US" sz="8200">
                <a:solidFill>
                  <a:srgbClr val="FFFFFF"/>
                </a:solidFill>
                <a:latin typeface="Anton"/>
                <a:ea typeface="Anton"/>
                <a:cs typeface="Anton"/>
                <a:sym typeface="Anton"/>
              </a:rPr>
              <a:t>DESIGN CONCEPTS- FairSight</a:t>
            </a:r>
          </a:p>
        </p:txBody>
      </p:sp>
      <p:sp>
        <p:nvSpPr>
          <p:cNvPr name="TextBox 4" id="4"/>
          <p:cNvSpPr txBox="true"/>
          <p:nvPr/>
        </p:nvSpPr>
        <p:spPr>
          <a:xfrm rot="0">
            <a:off x="9760727" y="2321577"/>
            <a:ext cx="6143427" cy="5809744"/>
          </a:xfrm>
          <a:prstGeom prst="rect">
            <a:avLst/>
          </a:prstGeom>
        </p:spPr>
        <p:txBody>
          <a:bodyPr anchor="t" rtlCol="false" tIns="0" lIns="0" bIns="0" rIns="0">
            <a:spAutoFit/>
          </a:bodyPr>
          <a:lstStyle/>
          <a:p>
            <a:pPr algn="ctr" marL="993133" indent="-496566" lvl="1">
              <a:lnSpc>
                <a:spcPts val="7773"/>
              </a:lnSpc>
              <a:buFont typeface="Arial"/>
              <a:buChar char="•"/>
            </a:pPr>
            <a:r>
              <a:rPr lang="en-US" sz="4599">
                <a:solidFill>
                  <a:srgbClr val="FFFFFF"/>
                </a:solidFill>
                <a:latin typeface="Montaser Arabic"/>
                <a:ea typeface="Montaser Arabic"/>
                <a:cs typeface="Montaser Arabic"/>
                <a:sym typeface="Montaser Arabic"/>
              </a:rPr>
              <a:t>ESP-32 WIF</a:t>
            </a:r>
          </a:p>
          <a:p>
            <a:pPr algn="ctr" marL="993133" indent="-496566" lvl="1">
              <a:lnSpc>
                <a:spcPts val="7773"/>
              </a:lnSpc>
              <a:buFont typeface="Arial"/>
              <a:buChar char="•"/>
            </a:pPr>
            <a:r>
              <a:rPr lang="en-US" sz="4599">
                <a:solidFill>
                  <a:srgbClr val="FFFFFF"/>
                </a:solidFill>
                <a:latin typeface="Montaser Arabic"/>
                <a:ea typeface="Montaser Arabic"/>
                <a:cs typeface="Montaser Arabic"/>
                <a:sym typeface="Montaser Arabic"/>
              </a:rPr>
              <a:t>ARDUINO UNO</a:t>
            </a:r>
          </a:p>
          <a:p>
            <a:pPr algn="ctr" marL="993133" indent="-496566" lvl="1">
              <a:lnSpc>
                <a:spcPts val="7773"/>
              </a:lnSpc>
              <a:buFont typeface="Arial"/>
              <a:buChar char="•"/>
            </a:pPr>
            <a:r>
              <a:rPr lang="en-US" sz="4599">
                <a:solidFill>
                  <a:srgbClr val="FFFFFF"/>
                </a:solidFill>
                <a:latin typeface="Montaser Arabic"/>
                <a:ea typeface="Montaser Arabic"/>
                <a:cs typeface="Montaser Arabic"/>
                <a:sym typeface="Montaser Arabic"/>
              </a:rPr>
              <a:t>O76 7O CAMERA</a:t>
            </a:r>
          </a:p>
          <a:p>
            <a:pPr algn="ctr" marL="993133" indent="-496566" lvl="1">
              <a:lnSpc>
                <a:spcPts val="7773"/>
              </a:lnSpc>
              <a:buFont typeface="Arial"/>
              <a:buChar char="•"/>
            </a:pPr>
            <a:r>
              <a:rPr lang="en-US" sz="4599">
                <a:solidFill>
                  <a:srgbClr val="FFFFFF"/>
                </a:solidFill>
                <a:latin typeface="Montaser Arabic"/>
                <a:ea typeface="Montaser Arabic"/>
                <a:cs typeface="Montaser Arabic"/>
                <a:sym typeface="Montaser Arabic"/>
              </a:rPr>
              <a:t>INMP 441 MIC</a:t>
            </a:r>
          </a:p>
          <a:p>
            <a:pPr algn="ctr" marL="993133" indent="-496566" lvl="1">
              <a:lnSpc>
                <a:spcPts val="7773"/>
              </a:lnSpc>
              <a:buFont typeface="Arial"/>
              <a:buChar char="•"/>
            </a:pPr>
            <a:r>
              <a:rPr lang="en-US" sz="4599">
                <a:solidFill>
                  <a:srgbClr val="FFFFFF"/>
                </a:solidFill>
                <a:latin typeface="Montaser Arabic"/>
                <a:ea typeface="Montaser Arabic"/>
                <a:cs typeface="Montaser Arabic"/>
                <a:sym typeface="Montaser Arabic"/>
              </a:rPr>
              <a:t>DFP PLAYER MINI</a:t>
            </a:r>
          </a:p>
          <a:p>
            <a:pPr algn="ctr">
              <a:lnSpc>
                <a:spcPts val="7773"/>
              </a:lnSpc>
            </a:pP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666" r="0" b="-16666"/>
            </a:stretch>
          </a:blipFill>
        </p:spPr>
      </p:sp>
      <p:sp>
        <p:nvSpPr>
          <p:cNvPr name="Freeform 3" id="3"/>
          <p:cNvSpPr/>
          <p:nvPr/>
        </p:nvSpPr>
        <p:spPr>
          <a:xfrm flipH="false" flipV="false" rot="0">
            <a:off x="-4019593" y="3093855"/>
            <a:ext cx="6554005" cy="5696027"/>
          </a:xfrm>
          <a:custGeom>
            <a:avLst/>
            <a:gdLst/>
            <a:ahLst/>
            <a:cxnLst/>
            <a:rect r="r" b="b" t="t" l="l"/>
            <a:pathLst>
              <a:path h="5696027" w="6554005">
                <a:moveTo>
                  <a:pt x="0" y="0"/>
                </a:moveTo>
                <a:lnTo>
                  <a:pt x="6554005" y="0"/>
                </a:lnTo>
                <a:lnTo>
                  <a:pt x="6554005" y="5696027"/>
                </a:lnTo>
                <a:lnTo>
                  <a:pt x="0" y="569602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3519839" y="472130"/>
            <a:ext cx="13739461" cy="1574276"/>
          </a:xfrm>
          <a:prstGeom prst="rect">
            <a:avLst/>
          </a:prstGeom>
        </p:spPr>
        <p:txBody>
          <a:bodyPr anchor="t" rtlCol="false" tIns="0" lIns="0" bIns="0" rIns="0">
            <a:spAutoFit/>
          </a:bodyPr>
          <a:lstStyle/>
          <a:p>
            <a:pPr algn="ctr">
              <a:lnSpc>
                <a:spcPts val="12451"/>
              </a:lnSpc>
            </a:pPr>
            <a:r>
              <a:rPr lang="en-US" sz="10206">
                <a:solidFill>
                  <a:srgbClr val="FFFFFF"/>
                </a:solidFill>
                <a:latin typeface="Anton"/>
                <a:ea typeface="Anton"/>
                <a:cs typeface="Anton"/>
                <a:sym typeface="Anton"/>
              </a:rPr>
              <a:t>WEBSITE</a:t>
            </a:r>
          </a:p>
        </p:txBody>
      </p:sp>
      <p:sp>
        <p:nvSpPr>
          <p:cNvPr name="TextBox 5" id="5"/>
          <p:cNvSpPr txBox="true"/>
          <p:nvPr/>
        </p:nvSpPr>
        <p:spPr>
          <a:xfrm rot="0">
            <a:off x="16388820" y="386405"/>
            <a:ext cx="1229733" cy="895978"/>
          </a:xfrm>
          <a:prstGeom prst="rect">
            <a:avLst/>
          </a:prstGeom>
        </p:spPr>
        <p:txBody>
          <a:bodyPr anchor="t" rtlCol="false" tIns="0" lIns="0" bIns="0" rIns="0">
            <a:spAutoFit/>
          </a:bodyPr>
          <a:lstStyle/>
          <a:p>
            <a:pPr algn="ctr">
              <a:lnSpc>
                <a:spcPts val="7279"/>
              </a:lnSpc>
              <a:spcBef>
                <a:spcPct val="0"/>
              </a:spcBef>
            </a:pPr>
            <a:r>
              <a:rPr lang="en-US" sz="5199">
                <a:solidFill>
                  <a:srgbClr val="FFFFFF"/>
                </a:solidFill>
                <a:latin typeface="RQND Pro"/>
                <a:ea typeface="RQND Pro"/>
                <a:cs typeface="RQND Pro"/>
                <a:sym typeface="RQND Pro"/>
              </a:rPr>
              <a:t>14</a:t>
            </a:r>
          </a:p>
        </p:txBody>
      </p:sp>
      <p:sp>
        <p:nvSpPr>
          <p:cNvPr name="TextBox 6" id="6"/>
          <p:cNvSpPr txBox="true"/>
          <p:nvPr/>
        </p:nvSpPr>
        <p:spPr>
          <a:xfrm rot="0">
            <a:off x="3519839" y="2702640"/>
            <a:ext cx="13483848" cy="7360234"/>
          </a:xfrm>
          <a:prstGeom prst="rect">
            <a:avLst/>
          </a:prstGeom>
        </p:spPr>
        <p:txBody>
          <a:bodyPr anchor="t" rtlCol="false" tIns="0" lIns="0" bIns="0" rIns="0">
            <a:spAutoFit/>
          </a:bodyPr>
          <a:lstStyle/>
          <a:p>
            <a:pPr algn="just">
              <a:lnSpc>
                <a:spcPts val="5032"/>
              </a:lnSpc>
            </a:pPr>
            <a:r>
              <a:rPr lang="en-US" sz="2677">
                <a:solidFill>
                  <a:srgbClr val="FFFFFF"/>
                </a:solidFill>
                <a:latin typeface="Montaser Arabic"/>
                <a:ea typeface="Montaser Arabic"/>
                <a:cs typeface="Montaser Arabic"/>
                <a:sym typeface="Montaser Arabic"/>
              </a:rPr>
              <a:t>Our team has desinged a website prototype using Figma that serves as the central hub for our immersive workplace bias training ecosystem. The site integrates features like </a:t>
            </a:r>
            <a:r>
              <a:rPr lang="en-US" sz="2677" b="true">
                <a:solidFill>
                  <a:srgbClr val="FFFFFF"/>
                </a:solidFill>
                <a:latin typeface="Montaser Arabic Bold"/>
                <a:ea typeface="Montaser Arabic Bold"/>
                <a:cs typeface="Montaser Arabic Bold"/>
                <a:sym typeface="Montaser Arabic Bold"/>
              </a:rPr>
              <a:t>VR system</a:t>
            </a:r>
            <a:r>
              <a:rPr lang="en-US" sz="2677">
                <a:solidFill>
                  <a:srgbClr val="FFFFFF"/>
                </a:solidFill>
                <a:latin typeface="Montaser Arabic"/>
                <a:ea typeface="Montaser Arabic"/>
                <a:cs typeface="Montaser Arabic"/>
                <a:sym typeface="Montaser Arabic"/>
              </a:rPr>
              <a:t> access and regeneration, </a:t>
            </a:r>
            <a:r>
              <a:rPr lang="en-US" sz="2677" b="true">
                <a:solidFill>
                  <a:srgbClr val="FFFFFF"/>
                </a:solidFill>
                <a:latin typeface="Montaser Arabic Bold"/>
                <a:ea typeface="Montaser Arabic Bold"/>
                <a:cs typeface="Montaser Arabic Bold"/>
                <a:sym typeface="Montaser Arabic Bold"/>
              </a:rPr>
              <a:t>record maintenance for tracking employee progress, realtime facial analyser</a:t>
            </a:r>
            <a:r>
              <a:rPr lang="en-US" sz="2677">
                <a:solidFill>
                  <a:srgbClr val="FFFFFF"/>
                </a:solidFill>
                <a:latin typeface="Montaser Arabic"/>
                <a:ea typeface="Montaser Arabic"/>
                <a:cs typeface="Montaser Arabic"/>
                <a:sym typeface="Montaser Arabic"/>
              </a:rPr>
              <a:t> and a</a:t>
            </a:r>
            <a:r>
              <a:rPr lang="en-US" sz="2677" b="true">
                <a:solidFill>
                  <a:srgbClr val="FFFFFF"/>
                </a:solidFill>
                <a:latin typeface="Montaser Arabic Bold"/>
                <a:ea typeface="Montaser Arabic Bold"/>
                <a:cs typeface="Montaser Arabic Bold"/>
                <a:sym typeface="Montaser Arabic Bold"/>
              </a:rPr>
              <a:t> mood analyzer that gauges user sentiment during training.</a:t>
            </a:r>
          </a:p>
          <a:p>
            <a:pPr algn="just">
              <a:lnSpc>
                <a:spcPts val="3105"/>
              </a:lnSpc>
            </a:pPr>
          </a:p>
          <a:p>
            <a:pPr algn="just">
              <a:lnSpc>
                <a:spcPts val="5032"/>
              </a:lnSpc>
            </a:pPr>
            <a:r>
              <a:rPr lang="en-US" sz="2677">
                <a:solidFill>
                  <a:srgbClr val="FFFFFF"/>
                </a:solidFill>
                <a:latin typeface="Montaser Arabic"/>
                <a:ea typeface="Montaser Arabic"/>
                <a:cs typeface="Montaser Arabic"/>
                <a:sym typeface="Montaser Arabic"/>
              </a:rPr>
              <a:t>The platform acts as a one-stop interface where HR Managers can monitor records and improvements, and the mood analyzer provides insights into emotional responses, helping personalize the training journey. This ensures that bias awareness is not just trained, but also measured, tracked, and continuously improved through a sleek, intuitive web experience.</a:t>
            </a:r>
          </a:p>
          <a:p>
            <a:pPr algn="just">
              <a:lnSpc>
                <a:spcPts val="5032"/>
              </a:lnSpc>
            </a:pPr>
          </a:p>
        </p:txBody>
      </p:sp>
      <p:sp>
        <p:nvSpPr>
          <p:cNvPr name="Freeform 7" id="7"/>
          <p:cNvSpPr/>
          <p:nvPr/>
        </p:nvSpPr>
        <p:spPr>
          <a:xfrm flipH="false" flipV="false" rot="0">
            <a:off x="3880901" y="1640144"/>
            <a:ext cx="2961265" cy="2907424"/>
          </a:xfrm>
          <a:custGeom>
            <a:avLst/>
            <a:gdLst/>
            <a:ahLst/>
            <a:cxnLst/>
            <a:rect r="r" b="b" t="t" l="l"/>
            <a:pathLst>
              <a:path h="2907424" w="2961265">
                <a:moveTo>
                  <a:pt x="0" y="0"/>
                </a:moveTo>
                <a:lnTo>
                  <a:pt x="2961265" y="0"/>
                </a:lnTo>
                <a:lnTo>
                  <a:pt x="2961265" y="2907423"/>
                </a:lnTo>
                <a:lnTo>
                  <a:pt x="0" y="2907423"/>
                </a:lnTo>
                <a:lnTo>
                  <a:pt x="0" y="0"/>
                </a:lnTo>
                <a:close/>
              </a:path>
            </a:pathLst>
          </a:custGeom>
          <a:blipFill>
            <a:blip r:embed="rId5">
              <a:alphaModFix amt="6999"/>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666" r="0" b="-16666"/>
            </a:stretch>
          </a:blipFill>
        </p:spPr>
      </p:sp>
      <p:sp>
        <p:nvSpPr>
          <p:cNvPr name="Freeform 3" id="3"/>
          <p:cNvSpPr/>
          <p:nvPr/>
        </p:nvSpPr>
        <p:spPr>
          <a:xfrm flipH="false" flipV="false" rot="0">
            <a:off x="-211203" y="-622683"/>
            <a:ext cx="17881840" cy="11932064"/>
          </a:xfrm>
          <a:custGeom>
            <a:avLst/>
            <a:gdLst/>
            <a:ahLst/>
            <a:cxnLst/>
            <a:rect r="r" b="b" t="t" l="l"/>
            <a:pathLst>
              <a:path h="11932064" w="17881840">
                <a:moveTo>
                  <a:pt x="0" y="0"/>
                </a:moveTo>
                <a:lnTo>
                  <a:pt x="17881841" y="0"/>
                </a:lnTo>
                <a:lnTo>
                  <a:pt x="17881841" y="11932065"/>
                </a:lnTo>
                <a:lnTo>
                  <a:pt x="0" y="1193206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6388820" y="8757924"/>
            <a:ext cx="1229733" cy="895978"/>
          </a:xfrm>
          <a:prstGeom prst="rect">
            <a:avLst/>
          </a:prstGeom>
        </p:spPr>
        <p:txBody>
          <a:bodyPr anchor="t" rtlCol="false" tIns="0" lIns="0" bIns="0" rIns="0">
            <a:spAutoFit/>
          </a:bodyPr>
          <a:lstStyle/>
          <a:p>
            <a:pPr algn="ctr">
              <a:lnSpc>
                <a:spcPts val="7279"/>
              </a:lnSpc>
              <a:spcBef>
                <a:spcPct val="0"/>
              </a:spcBef>
            </a:pPr>
            <a:r>
              <a:rPr lang="en-US" sz="5199">
                <a:solidFill>
                  <a:srgbClr val="FFFFFF"/>
                </a:solidFill>
                <a:latin typeface="RQND Pro"/>
                <a:ea typeface="RQND Pro"/>
                <a:cs typeface="RQND Pro"/>
                <a:sym typeface="RQND Pro"/>
              </a:rPr>
              <a:t>15</a:t>
            </a:r>
          </a:p>
        </p:txBody>
      </p:sp>
      <p:sp>
        <p:nvSpPr>
          <p:cNvPr name="TextBox 5" id="5"/>
          <p:cNvSpPr txBox="true"/>
          <p:nvPr/>
        </p:nvSpPr>
        <p:spPr>
          <a:xfrm rot="0">
            <a:off x="1395175" y="1892172"/>
            <a:ext cx="14446304" cy="7820517"/>
          </a:xfrm>
          <a:prstGeom prst="rect">
            <a:avLst/>
          </a:prstGeom>
        </p:spPr>
        <p:txBody>
          <a:bodyPr anchor="t" rtlCol="false" tIns="0" lIns="0" bIns="0" rIns="0">
            <a:spAutoFit/>
          </a:bodyPr>
          <a:lstStyle/>
          <a:p>
            <a:pPr algn="l">
              <a:lnSpc>
                <a:spcPts val="5222"/>
              </a:lnSpc>
            </a:pPr>
            <a:r>
              <a:rPr lang="en-US" sz="3730" u="sng">
                <a:solidFill>
                  <a:srgbClr val="FFFFFF"/>
                </a:solidFill>
                <a:latin typeface="Montaser Arabic"/>
                <a:ea typeface="Montaser Arabic"/>
                <a:cs typeface="Montaser Arabic"/>
                <a:sym typeface="Montaser Arabic"/>
              </a:rPr>
              <a:t>In-house Mood Analyser (Soft-touch Polymer Casing)</a:t>
            </a:r>
          </a:p>
          <a:p>
            <a:pPr algn="l" marL="805446" indent="-402723" lvl="1">
              <a:lnSpc>
                <a:spcPts val="5222"/>
              </a:lnSpc>
              <a:buFont typeface="Arial"/>
              <a:buChar char="•"/>
            </a:pPr>
            <a:r>
              <a:rPr lang="en-US" sz="3730" u="sng">
                <a:solidFill>
                  <a:srgbClr val="FFFFFF"/>
                </a:solidFill>
                <a:latin typeface="Montaser Arabic"/>
                <a:ea typeface="Montaser Arabic"/>
                <a:cs typeface="Montaser Arabic"/>
                <a:sym typeface="Montaser Arabic"/>
              </a:rPr>
              <a:t>Hardware (25%) </a:t>
            </a:r>
            <a:r>
              <a:rPr lang="en-US" sz="3730">
                <a:solidFill>
                  <a:srgbClr val="FFFFFF"/>
                </a:solidFill>
                <a:latin typeface="Montaser Arabic"/>
                <a:ea typeface="Montaser Arabic"/>
                <a:cs typeface="Montaser Arabic"/>
                <a:sym typeface="Montaser Arabic"/>
              </a:rPr>
              <a:t>– ₹12,000</a:t>
            </a:r>
          </a:p>
          <a:p>
            <a:pPr algn="l">
              <a:lnSpc>
                <a:spcPts val="4942"/>
              </a:lnSpc>
            </a:pPr>
            <a:r>
              <a:rPr lang="en-US" sz="3530">
                <a:solidFill>
                  <a:srgbClr val="FFFFFF"/>
                </a:solidFill>
                <a:latin typeface="Montaser Arabic"/>
                <a:ea typeface="Montaser Arabic"/>
                <a:cs typeface="Montaser Arabic"/>
                <a:sym typeface="Montaser Arabic"/>
              </a:rPr>
              <a:t>      </a:t>
            </a:r>
            <a:r>
              <a:rPr lang="en-US" sz="3530">
                <a:solidFill>
                  <a:srgbClr val="FFFFFF"/>
                </a:solidFill>
                <a:latin typeface="Montaser Arabic"/>
                <a:ea typeface="Montaser Arabic"/>
                <a:cs typeface="Montaser Arabic"/>
                <a:sym typeface="Montaser Arabic"/>
              </a:rPr>
              <a:t>Microcontroller, sensors, display, connectivity</a:t>
            </a:r>
          </a:p>
          <a:p>
            <a:pPr algn="l" marL="805446" indent="-402723" lvl="1">
              <a:lnSpc>
                <a:spcPts val="5222"/>
              </a:lnSpc>
              <a:buFont typeface="Arial"/>
              <a:buChar char="•"/>
            </a:pPr>
            <a:r>
              <a:rPr lang="en-US" sz="3730" u="sng">
                <a:solidFill>
                  <a:srgbClr val="FFFFFF"/>
                </a:solidFill>
                <a:latin typeface="Montaser Arabic"/>
                <a:ea typeface="Montaser Arabic"/>
                <a:cs typeface="Montaser Arabic"/>
                <a:sym typeface="Montaser Arabic"/>
              </a:rPr>
              <a:t>Casing (15%) </a:t>
            </a:r>
            <a:r>
              <a:rPr lang="en-US" sz="3730">
                <a:solidFill>
                  <a:srgbClr val="FFFFFF"/>
                </a:solidFill>
                <a:latin typeface="Montaser Arabic"/>
                <a:ea typeface="Montaser Arabic"/>
                <a:cs typeface="Montaser Arabic"/>
                <a:sym typeface="Montaser Arabic"/>
              </a:rPr>
              <a:t>– ₹8,000</a:t>
            </a:r>
          </a:p>
          <a:p>
            <a:pPr algn="l">
              <a:lnSpc>
                <a:spcPts val="5222"/>
              </a:lnSpc>
            </a:pPr>
            <a:r>
              <a:rPr lang="en-US" sz="3730">
                <a:solidFill>
                  <a:srgbClr val="FFFFFF"/>
                </a:solidFill>
                <a:latin typeface="Montaser Arabic"/>
                <a:ea typeface="Montaser Arabic"/>
                <a:cs typeface="Montaser Arabic"/>
                <a:sym typeface="Montaser Arabic"/>
              </a:rPr>
              <a:t>      Soft-touch polymer casing, internal housing</a:t>
            </a:r>
          </a:p>
          <a:p>
            <a:pPr algn="l" marL="805446" indent="-402723" lvl="1">
              <a:lnSpc>
                <a:spcPts val="5222"/>
              </a:lnSpc>
              <a:buFont typeface="Arial"/>
              <a:buChar char="•"/>
            </a:pPr>
            <a:r>
              <a:rPr lang="en-US" sz="3730" u="sng">
                <a:solidFill>
                  <a:srgbClr val="FFFFFF"/>
                </a:solidFill>
                <a:latin typeface="Montaser Arabic"/>
                <a:ea typeface="Montaser Arabic"/>
                <a:cs typeface="Montaser Arabic"/>
                <a:sym typeface="Montaser Arabic"/>
              </a:rPr>
              <a:t>Software/API (45%)</a:t>
            </a:r>
            <a:r>
              <a:rPr lang="en-US" sz="3730">
                <a:solidFill>
                  <a:srgbClr val="FFFFFF"/>
                </a:solidFill>
                <a:latin typeface="Montaser Arabic"/>
                <a:ea typeface="Montaser Arabic"/>
                <a:cs typeface="Montaser Arabic"/>
                <a:sym typeface="Montaser Arabic"/>
              </a:rPr>
              <a:t> – ₹22,000</a:t>
            </a:r>
          </a:p>
          <a:p>
            <a:pPr algn="l">
              <a:lnSpc>
                <a:spcPts val="5222"/>
              </a:lnSpc>
            </a:pPr>
            <a:r>
              <a:rPr lang="en-US" sz="3730">
                <a:solidFill>
                  <a:srgbClr val="FFFFFF"/>
                </a:solidFill>
                <a:latin typeface="Montaser Arabic"/>
                <a:ea typeface="Montaser Arabic"/>
                <a:cs typeface="Montaser Arabic"/>
                <a:sym typeface="Montaser Arabic"/>
              </a:rPr>
              <a:t>      Google NLP API, in-house development &amp; testing</a:t>
            </a:r>
          </a:p>
          <a:p>
            <a:pPr algn="l" marL="805446" indent="-402723" lvl="1">
              <a:lnSpc>
                <a:spcPts val="5222"/>
              </a:lnSpc>
              <a:buFont typeface="Arial"/>
              <a:buChar char="•"/>
            </a:pPr>
            <a:r>
              <a:rPr lang="en-US" sz="3730" u="sng">
                <a:solidFill>
                  <a:srgbClr val="FFFFFF"/>
                </a:solidFill>
                <a:latin typeface="Montaser Arabic"/>
                <a:ea typeface="Montaser Arabic"/>
                <a:cs typeface="Montaser Arabic"/>
                <a:sym typeface="Montaser Arabic"/>
              </a:rPr>
              <a:t>Miscellaneous (15%)</a:t>
            </a:r>
            <a:r>
              <a:rPr lang="en-US" sz="3730">
                <a:solidFill>
                  <a:srgbClr val="FFFFFF"/>
                </a:solidFill>
                <a:latin typeface="Montaser Arabic"/>
                <a:ea typeface="Montaser Arabic"/>
                <a:cs typeface="Montaser Arabic"/>
                <a:sym typeface="Montaser Arabic"/>
              </a:rPr>
              <a:t> – ₹6,000</a:t>
            </a:r>
          </a:p>
          <a:p>
            <a:pPr algn="l">
              <a:lnSpc>
                <a:spcPts val="5222"/>
              </a:lnSpc>
            </a:pPr>
            <a:r>
              <a:rPr lang="en-US" sz="3730">
                <a:solidFill>
                  <a:srgbClr val="FFFFFF"/>
                </a:solidFill>
                <a:latin typeface="Montaser Arabic"/>
                <a:ea typeface="Montaser Arabic"/>
                <a:cs typeface="Montaser Arabic"/>
                <a:sym typeface="Montaser Arabic"/>
              </a:rPr>
              <a:t>      Testing, power, packaging</a:t>
            </a:r>
          </a:p>
          <a:p>
            <a:pPr algn="l">
              <a:lnSpc>
                <a:spcPts val="5222"/>
              </a:lnSpc>
            </a:pPr>
          </a:p>
          <a:p>
            <a:pPr algn="l">
              <a:lnSpc>
                <a:spcPts val="5222"/>
              </a:lnSpc>
            </a:pPr>
            <a:r>
              <a:rPr lang="en-US" sz="3730">
                <a:solidFill>
                  <a:srgbClr val="FFFFFF"/>
                </a:solidFill>
                <a:latin typeface="Montaser Arabic"/>
                <a:ea typeface="Montaser Arabic"/>
                <a:cs typeface="Montaser Arabic"/>
                <a:sym typeface="Montaser Arabic"/>
              </a:rPr>
              <a:t>➡ Estimated Total (Prototype): ₹48,000 – ₹50,000</a:t>
            </a:r>
          </a:p>
          <a:p>
            <a:pPr algn="l">
              <a:lnSpc>
                <a:spcPts val="5222"/>
              </a:lnSpc>
              <a:spcBef>
                <a:spcPct val="0"/>
              </a:spcBef>
            </a:pPr>
          </a:p>
        </p:txBody>
      </p:sp>
      <p:sp>
        <p:nvSpPr>
          <p:cNvPr name="Freeform 6" id="6"/>
          <p:cNvSpPr/>
          <p:nvPr/>
        </p:nvSpPr>
        <p:spPr>
          <a:xfrm flipH="false" flipV="false" rot="0">
            <a:off x="661013" y="1028700"/>
            <a:ext cx="1894745" cy="1860295"/>
          </a:xfrm>
          <a:custGeom>
            <a:avLst/>
            <a:gdLst/>
            <a:ahLst/>
            <a:cxnLst/>
            <a:rect r="r" b="b" t="t" l="l"/>
            <a:pathLst>
              <a:path h="1860295" w="1894745">
                <a:moveTo>
                  <a:pt x="0" y="0"/>
                </a:moveTo>
                <a:lnTo>
                  <a:pt x="1894745" y="0"/>
                </a:lnTo>
                <a:lnTo>
                  <a:pt x="1894745" y="1860295"/>
                </a:lnTo>
                <a:lnTo>
                  <a:pt x="0" y="1860295"/>
                </a:lnTo>
                <a:lnTo>
                  <a:pt x="0" y="0"/>
                </a:lnTo>
                <a:close/>
              </a:path>
            </a:pathLst>
          </a:custGeom>
          <a:blipFill>
            <a:blip r:embed="rId5">
              <a:alphaModFix amt="26000"/>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2649359" y="518105"/>
            <a:ext cx="13739461" cy="1021190"/>
          </a:xfrm>
          <a:prstGeom prst="rect">
            <a:avLst/>
          </a:prstGeom>
        </p:spPr>
        <p:txBody>
          <a:bodyPr anchor="t" rtlCol="false" tIns="0" lIns="0" bIns="0" rIns="0">
            <a:spAutoFit/>
          </a:bodyPr>
          <a:lstStyle/>
          <a:p>
            <a:pPr algn="ctr">
              <a:lnSpc>
                <a:spcPts val="8182"/>
              </a:lnSpc>
            </a:pPr>
            <a:r>
              <a:rPr lang="en-US" sz="6706">
                <a:solidFill>
                  <a:srgbClr val="FFFFFF"/>
                </a:solidFill>
                <a:latin typeface="Anton"/>
                <a:ea typeface="Anton"/>
                <a:cs typeface="Anton"/>
                <a:sym typeface="Anton"/>
              </a:rPr>
              <a:t>BUDGET ALLOCATION &amp; PRODUCTION COST</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666" r="0" b="-16666"/>
            </a:stretch>
          </a:blipFill>
        </p:spPr>
      </p:sp>
      <p:sp>
        <p:nvSpPr>
          <p:cNvPr name="Freeform 3" id="3"/>
          <p:cNvSpPr/>
          <p:nvPr/>
        </p:nvSpPr>
        <p:spPr>
          <a:xfrm flipH="false" flipV="false" rot="0">
            <a:off x="12478207" y="2678742"/>
            <a:ext cx="3532473" cy="3468247"/>
          </a:xfrm>
          <a:custGeom>
            <a:avLst/>
            <a:gdLst/>
            <a:ahLst/>
            <a:cxnLst/>
            <a:rect r="r" b="b" t="t" l="l"/>
            <a:pathLst>
              <a:path h="3468247" w="3532473">
                <a:moveTo>
                  <a:pt x="0" y="0"/>
                </a:moveTo>
                <a:lnTo>
                  <a:pt x="3532473" y="0"/>
                </a:lnTo>
                <a:lnTo>
                  <a:pt x="3532473" y="3468247"/>
                </a:lnTo>
                <a:lnTo>
                  <a:pt x="0" y="3468247"/>
                </a:lnTo>
                <a:lnTo>
                  <a:pt x="0" y="0"/>
                </a:lnTo>
                <a:close/>
              </a:path>
            </a:pathLst>
          </a:custGeom>
          <a:blipFill>
            <a:blip r:embed="rId3">
              <a:alphaModFix amt="26000"/>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2028783" y="519877"/>
            <a:ext cx="13724760" cy="3424566"/>
          </a:xfrm>
          <a:prstGeom prst="rect">
            <a:avLst/>
          </a:prstGeom>
        </p:spPr>
        <p:txBody>
          <a:bodyPr anchor="t" rtlCol="false" tIns="0" lIns="0" bIns="0" rIns="0">
            <a:spAutoFit/>
          </a:bodyPr>
          <a:lstStyle/>
          <a:p>
            <a:pPr algn="ctr">
              <a:lnSpc>
                <a:spcPts val="13293"/>
              </a:lnSpc>
            </a:pPr>
            <a:r>
              <a:rPr lang="en-US" sz="12423">
                <a:solidFill>
                  <a:srgbClr val="FFFFFF"/>
                </a:solidFill>
                <a:latin typeface="Anton"/>
                <a:ea typeface="Anton"/>
                <a:cs typeface="Anton"/>
                <a:sym typeface="Anton"/>
              </a:rPr>
              <a:t>Meet The </a:t>
            </a:r>
          </a:p>
          <a:p>
            <a:pPr algn="ctr">
              <a:lnSpc>
                <a:spcPts val="13293"/>
              </a:lnSpc>
            </a:pPr>
            <a:r>
              <a:rPr lang="en-US" sz="12423">
                <a:solidFill>
                  <a:srgbClr val="FFFFFF"/>
                </a:solidFill>
                <a:latin typeface="Anton"/>
                <a:ea typeface="Anton"/>
                <a:cs typeface="Anton"/>
                <a:sym typeface="Anton"/>
              </a:rPr>
              <a:t>Code Landers</a:t>
            </a:r>
          </a:p>
        </p:txBody>
      </p:sp>
      <p:sp>
        <p:nvSpPr>
          <p:cNvPr name="TextBox 5" id="5"/>
          <p:cNvSpPr txBox="true"/>
          <p:nvPr/>
        </p:nvSpPr>
        <p:spPr>
          <a:xfrm rot="0">
            <a:off x="1148953" y="3668218"/>
            <a:ext cx="15986027" cy="6053063"/>
          </a:xfrm>
          <a:prstGeom prst="rect">
            <a:avLst/>
          </a:prstGeom>
        </p:spPr>
        <p:txBody>
          <a:bodyPr anchor="t" rtlCol="false" tIns="0" lIns="0" bIns="0" rIns="0">
            <a:spAutoFit/>
          </a:bodyPr>
          <a:lstStyle/>
          <a:p>
            <a:pPr algn="l" marL="1222623" indent="-611311" lvl="1">
              <a:lnSpc>
                <a:spcPts val="9683"/>
              </a:lnSpc>
              <a:buFont typeface="Arial"/>
              <a:buChar char="•"/>
            </a:pPr>
            <a:r>
              <a:rPr lang="en-US" b="true" sz="5662">
                <a:solidFill>
                  <a:srgbClr val="FFFFFF"/>
                </a:solidFill>
                <a:latin typeface="Canva Sans Bold"/>
                <a:ea typeface="Canva Sans Bold"/>
                <a:cs typeface="Canva Sans Bold"/>
                <a:sym typeface="Canva Sans Bold"/>
              </a:rPr>
              <a:t>CHITTESH D- 25BRS1255</a:t>
            </a:r>
          </a:p>
          <a:p>
            <a:pPr algn="l" marL="1222623" indent="-611311" lvl="1">
              <a:lnSpc>
                <a:spcPts val="9683"/>
              </a:lnSpc>
              <a:buFont typeface="Arial"/>
              <a:buChar char="•"/>
            </a:pPr>
            <a:r>
              <a:rPr lang="en-US" b="true" sz="5662">
                <a:solidFill>
                  <a:srgbClr val="FFFFFF"/>
                </a:solidFill>
                <a:latin typeface="Canva Sans Bold"/>
                <a:ea typeface="Canva Sans Bold"/>
                <a:cs typeface="Canva Sans Bold"/>
                <a:sym typeface="Canva Sans Bold"/>
              </a:rPr>
              <a:t>ANAMITHRA GOVINDARAJAN- 25BRS1291</a:t>
            </a:r>
          </a:p>
          <a:p>
            <a:pPr algn="l" marL="1222623" indent="-611311" lvl="1">
              <a:lnSpc>
                <a:spcPts val="9683"/>
              </a:lnSpc>
              <a:buFont typeface="Arial"/>
              <a:buChar char="•"/>
            </a:pPr>
            <a:r>
              <a:rPr lang="en-US" b="true" sz="5662">
                <a:solidFill>
                  <a:srgbClr val="FFFFFF"/>
                </a:solidFill>
                <a:latin typeface="Canva Sans Bold"/>
                <a:ea typeface="Canva Sans Bold"/>
                <a:cs typeface="Canva Sans Bold"/>
                <a:sym typeface="Canva Sans Bold"/>
              </a:rPr>
              <a:t>RAMYASHRI S- 25BRS1144</a:t>
            </a:r>
          </a:p>
          <a:p>
            <a:pPr algn="l" marL="1222623" indent="-611311" lvl="1">
              <a:lnSpc>
                <a:spcPts val="9683"/>
              </a:lnSpc>
              <a:buFont typeface="Arial"/>
              <a:buChar char="•"/>
            </a:pPr>
            <a:r>
              <a:rPr lang="en-US" b="true" sz="5662">
                <a:solidFill>
                  <a:srgbClr val="FFFFFF"/>
                </a:solidFill>
                <a:latin typeface="Canva Sans Bold"/>
                <a:ea typeface="Canva Sans Bold"/>
                <a:cs typeface="Canva Sans Bold"/>
                <a:sym typeface="Canva Sans Bold"/>
              </a:rPr>
              <a:t>MOHAMED FAHEEM- 25BRS1326</a:t>
            </a:r>
          </a:p>
          <a:p>
            <a:pPr algn="l" marL="1222623" indent="-611311" lvl="1">
              <a:lnSpc>
                <a:spcPts val="9683"/>
              </a:lnSpc>
              <a:buFont typeface="Arial"/>
              <a:buChar char="•"/>
            </a:pPr>
            <a:r>
              <a:rPr lang="en-US" b="true" sz="5662">
                <a:solidFill>
                  <a:srgbClr val="FFFFFF"/>
                </a:solidFill>
                <a:latin typeface="Canva Sans Bold"/>
                <a:ea typeface="Canva Sans Bold"/>
                <a:cs typeface="Canva Sans Bold"/>
                <a:sym typeface="Canva Sans Bold"/>
              </a:rPr>
              <a:t>S NAVYASHRE- 25BRS1398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DAGxVbdiYGU</dc:identifier>
  <dcterms:modified xsi:type="dcterms:W3CDTF">2011-08-01T06:04:30Z</dcterms:modified>
  <cp:revision>1</cp:revision>
  <dc:title>THE BIG IDEA- CODELANDERS</dc:title>
</cp:coreProperties>
</file>